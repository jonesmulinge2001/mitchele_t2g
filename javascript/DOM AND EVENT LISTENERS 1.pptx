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0" r:id="rId6"/>
    <p:sldId id="262" r:id="rId7"/>
    <p:sldId id="264" r:id="rId8"/>
    <p:sldId id="265" r:id="rId9"/>
    <p:sldId id="258" r:id="rId10"/>
    <p:sldId id="261" r:id="rId11"/>
    <p:sldId id="263" r:id="rId12"/>
    <p:sldId id="266" r:id="rId13"/>
    <p:sldId id="270" r:id="rId14"/>
    <p:sldId id="267" r:id="rId15"/>
    <p:sldId id="271" r:id="rId16"/>
    <p:sldId id="272" r:id="rId17"/>
    <p:sldId id="273" r:id="rId18"/>
    <p:sldId id="274" r:id="rId19"/>
    <p:sldId id="275" r:id="rId20"/>
    <p:sldId id="268" r:id="rId21"/>
    <p:sldId id="276" r:id="rId22"/>
    <p:sldId id="277" r:id="rId23"/>
    <p:sldId id="269" r:id="rId24"/>
    <p:sldId id="278" r:id="rId25"/>
    <p:sldId id="279" r:id="rId26"/>
    <p:sldId id="288" r:id="rId27"/>
    <p:sldId id="290" r:id="rId28"/>
    <p:sldId id="280" r:id="rId29"/>
    <p:sldId id="281" r:id="rId30"/>
    <p:sldId id="282" r:id="rId31"/>
    <p:sldId id="283" r:id="rId32"/>
    <p:sldId id="284" r:id="rId33"/>
    <p:sldId id="285" r:id="rId34"/>
    <p:sldId id="287" r:id="rId35"/>
    <p:sldId id="291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3D30C-2B40-4126-87FA-FE3CBA908C4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11B6-D5F7-4330-98C7-1CDD1844F48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3D30C-2B40-4126-87FA-FE3CBA908C4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11B6-D5F7-4330-98C7-1CDD1844F48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3D30C-2B40-4126-87FA-FE3CBA908C4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11B6-D5F7-4330-98C7-1CDD1844F48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3D30C-2B40-4126-87FA-FE3CBA908C4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11B6-D5F7-4330-98C7-1CDD1844F48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3D30C-2B40-4126-87FA-FE3CBA908C4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11B6-D5F7-4330-98C7-1CDD1844F48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3D30C-2B40-4126-87FA-FE3CBA908C4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11B6-D5F7-4330-98C7-1CDD1844F48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3D30C-2B40-4126-87FA-FE3CBA908C4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11B6-D5F7-4330-98C7-1CDD1844F48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3D30C-2B40-4126-87FA-FE3CBA908C4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11B6-D5F7-4330-98C7-1CDD1844F48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3D30C-2B40-4126-87FA-FE3CBA908C4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11B6-D5F7-4330-98C7-1CDD1844F48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3D30C-2B40-4126-87FA-FE3CBA908C4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11B6-D5F7-4330-98C7-1CDD1844F48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3D30C-2B40-4126-87FA-FE3CBA908C4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11B6-D5F7-4330-98C7-1CDD1844F48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3D30C-2B40-4126-87FA-FE3CBA908C4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611B6-D5F7-4330-98C7-1CDD1844F48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javascript.info/browser-environment#dom-document-object-model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javascript.info/dom-nodes#an-example-of-the-dom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javascript.info/dom-nodes#autocorrection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software.hixie.ch/utilities/js/live-dom-viewer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javascript.info/dom-nodes#interaction-with-console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developer.mozilla.org/en-US/docs/Web/HTML/Global_attributes/class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developer.mozilla.org/en-US/docs/Web/API/Document/querySelector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DOM AND EVENT LISTENERS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sng">
                <a:solidFill>
                  <a:srgbClr val="666666"/>
                </a:solidFill>
                <a:effectLst/>
                <a:latin typeface="BlinkMacSystemFont"/>
                <a:hlinkClick r:id="rId1"/>
              </a:rPr>
              <a:t>DOM (Document Object Model)</a:t>
            </a:r>
            <a:br>
              <a:rPr lang="en-US" b="1" i="0">
                <a:solidFill>
                  <a:srgbClr val="313130"/>
                </a:solidFill>
                <a:effectLst/>
                <a:latin typeface="BlinkMacSystemFont"/>
              </a:rPr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1580"/>
            <a:ext cx="10515600" cy="496538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200" b="0" i="0" dirty="0">
                <a:solidFill>
                  <a:srgbClr val="313130"/>
                </a:solidFill>
                <a:effectLst/>
                <a:latin typeface="BlinkMacSystemFont"/>
              </a:rPr>
              <a:t> Represents all page content as objects that can be modified.</a:t>
            </a:r>
            <a:endParaRPr lang="en-US" sz="3200" b="0" i="0" dirty="0">
              <a:solidFill>
                <a:srgbClr val="313130"/>
              </a:solidFill>
              <a:effectLst/>
              <a:latin typeface="BlinkMacSystemFont"/>
            </a:endParaRPr>
          </a:p>
          <a:p>
            <a:r>
              <a:rPr lang="en-US" sz="3200" dirty="0">
                <a:solidFill>
                  <a:srgbClr val="313130"/>
                </a:solidFill>
                <a:latin typeface="BlinkMacSystemFont"/>
              </a:rPr>
              <a:t> </a:t>
            </a:r>
            <a:r>
              <a:rPr lang="en-US" sz="3200" b="0" i="0" dirty="0">
                <a:solidFill>
                  <a:srgbClr val="313130"/>
                </a:solidFill>
                <a:effectLst/>
                <a:latin typeface="BlinkMacSystemFont"/>
              </a:rPr>
              <a:t>The 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document</a:t>
            </a:r>
            <a:r>
              <a:rPr lang="en-US" sz="3200" b="1" dirty="0">
                <a:solidFill>
                  <a:srgbClr val="3131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linkMacSystemFont"/>
              </a:rPr>
              <a:t> object </a:t>
            </a:r>
            <a:r>
              <a:rPr lang="en-US" sz="3200" b="0" i="0" dirty="0">
                <a:solidFill>
                  <a:srgbClr val="313130"/>
                </a:solidFill>
                <a:effectLst/>
                <a:latin typeface="BlinkMacSystemFont"/>
              </a:rPr>
              <a:t>is the main “entry point” to the page. We can change or create anything on the page using it.</a:t>
            </a:r>
            <a:endParaRPr lang="en-US" sz="3200" b="0" i="0" dirty="0">
              <a:solidFill>
                <a:srgbClr val="313130"/>
              </a:solidFill>
              <a:effectLst/>
              <a:latin typeface="BlinkMacSystemFont"/>
            </a:endParaRPr>
          </a:p>
          <a:p>
            <a:r>
              <a:rPr lang="en-US" sz="3200" b="0" i="0" dirty="0">
                <a:solidFill>
                  <a:srgbClr val="313130"/>
                </a:solidFill>
                <a:effectLst/>
                <a:latin typeface="BlinkMacSystemFont"/>
              </a:rPr>
              <a:t>For instance:</a:t>
            </a:r>
            <a:endParaRPr lang="en-US" sz="3200" b="0" i="0" dirty="0">
              <a:solidFill>
                <a:srgbClr val="313130"/>
              </a:solidFill>
              <a:effectLst/>
              <a:latin typeface="BlinkMacSystemFont"/>
            </a:endParaRPr>
          </a:p>
          <a:p>
            <a:pPr marL="457200" lvl="1" indent="0">
              <a:buNone/>
            </a:pPr>
            <a:r>
              <a:rPr lang="en-US" sz="3200" b="0" i="0" dirty="0">
                <a:effectLst/>
                <a:latin typeface="Consolas" panose="020B0609020204030204"/>
              </a:rPr>
              <a:t>// change the background color to red</a:t>
            </a:r>
            <a:r>
              <a:rPr lang="en-US" sz="3200" b="0" i="0" dirty="0">
                <a:solidFill>
                  <a:srgbClr val="313130"/>
                </a:solidFill>
                <a:effectLst/>
                <a:latin typeface="Consolas" panose="020B0609020204030204"/>
              </a:rPr>
              <a:t> </a:t>
            </a:r>
            <a:r>
              <a:rPr lang="en-US" sz="3200" b="0" i="1" u="sng" err="1">
                <a:solidFill>
                  <a:srgbClr val="313130"/>
                </a:solidFill>
                <a:effectLst/>
                <a:latin typeface="Consolas" panose="020B0609020204030204"/>
              </a:rPr>
              <a:t>document</a:t>
            </a:r>
            <a:r>
              <a:rPr lang="en-US" sz="3200" b="0" i="1" err="1">
                <a:effectLst/>
                <a:latin typeface="Consolas" panose="020B0609020204030204"/>
              </a:rPr>
              <a:t>.</a:t>
            </a:r>
            <a:r>
              <a:rPr lang="en-US" sz="3200" b="0" i="1" err="1">
                <a:solidFill>
                  <a:srgbClr val="313130"/>
                </a:solidFill>
                <a:effectLst/>
                <a:latin typeface="Consolas" panose="020B0609020204030204"/>
              </a:rPr>
              <a:t>body</a:t>
            </a:r>
            <a:r>
              <a:rPr lang="en-US" sz="3200" b="0" i="1" err="1">
                <a:effectLst/>
                <a:latin typeface="Consolas" panose="020B0609020204030204"/>
              </a:rPr>
              <a:t>.</a:t>
            </a:r>
            <a:r>
              <a:rPr lang="en-US" sz="3200" b="0" i="1" err="1">
                <a:solidFill>
                  <a:srgbClr val="313130"/>
                </a:solidFill>
                <a:effectLst/>
                <a:latin typeface="Consolas" panose="020B0609020204030204"/>
              </a:rPr>
              <a:t>style</a:t>
            </a:r>
            <a:r>
              <a:rPr lang="en-US" sz="3200" b="0" i="1" err="1">
                <a:effectLst/>
                <a:latin typeface="Consolas" panose="020B0609020204030204"/>
              </a:rPr>
              <a:t>.</a:t>
            </a:r>
            <a:r>
              <a:rPr lang="en-US" sz="3200" b="0" i="1" err="1">
                <a:solidFill>
                  <a:srgbClr val="313130"/>
                </a:solidFill>
                <a:effectLst/>
                <a:latin typeface="Consolas" panose="020B0609020204030204"/>
              </a:rPr>
              <a:t>background</a:t>
            </a:r>
            <a:r>
              <a:rPr lang="en-US" sz="3200" b="0" i="1" dirty="0">
                <a:solidFill>
                  <a:srgbClr val="313130"/>
                </a:solidFill>
                <a:effectLst/>
                <a:latin typeface="Consolas" panose="020B0609020204030204"/>
              </a:rPr>
              <a:t> </a:t>
            </a:r>
            <a:r>
              <a:rPr lang="en-US" sz="3200" b="0" i="1" dirty="0">
                <a:effectLst/>
                <a:latin typeface="Consolas" panose="020B0609020204030204"/>
              </a:rPr>
              <a:t>=</a:t>
            </a:r>
            <a:r>
              <a:rPr lang="en-US" sz="3200" b="0" i="1" dirty="0">
                <a:solidFill>
                  <a:srgbClr val="313130"/>
                </a:solidFill>
                <a:effectLst/>
                <a:latin typeface="Consolas" panose="020B0609020204030204"/>
              </a:rPr>
              <a:t> </a:t>
            </a:r>
            <a:r>
              <a:rPr lang="en-US" sz="3200" b="0" i="1" dirty="0">
                <a:effectLst/>
                <a:latin typeface="Consolas" panose="020B0609020204030204"/>
              </a:rPr>
              <a:t>"red";</a:t>
            </a:r>
            <a:endParaRPr lang="en-US" sz="3200" i="1" dirty="0">
              <a:solidFill>
                <a:srgbClr val="313130"/>
              </a:solidFill>
              <a:latin typeface="Consolas" panose="020B0609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sng">
                <a:solidFill>
                  <a:srgbClr val="666666"/>
                </a:solidFill>
                <a:effectLst/>
                <a:latin typeface="BlinkMacSystemFont"/>
                <a:hlinkClick r:id="rId1"/>
              </a:rPr>
              <a:t>An example of the DOM</a:t>
            </a:r>
            <a:br>
              <a:rPr lang="en-US" b="1" i="0">
                <a:solidFill>
                  <a:srgbClr val="313130"/>
                </a:solidFill>
                <a:effectLst/>
                <a:latin typeface="BlinkMacSystemFont"/>
              </a:rPr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65860"/>
            <a:ext cx="10515600" cy="50111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i="0" dirty="0">
                <a:solidFill>
                  <a:srgbClr val="313130"/>
                </a:solidFill>
                <a:effectLst/>
                <a:latin typeface="Consolas" panose="020B0609020204030204"/>
              </a:rPr>
              <a:t>&lt;!DOCTYPE HTML&gt;</a:t>
            </a:r>
            <a:r>
              <a:rPr lang="en-US" b="1" dirty="0">
                <a:solidFill>
                  <a:srgbClr val="313130"/>
                </a:solidFill>
                <a:latin typeface="Consolas" panose="020B0609020204030204"/>
              </a:rPr>
              <a:t> </a:t>
            </a:r>
            <a:endParaRPr lang="en-US" b="1" i="0">
              <a:solidFill>
                <a:srgbClr val="31313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i="0" dirty="0">
                <a:effectLst/>
                <a:latin typeface="Consolas" panose="020B0609020204030204"/>
              </a:rPr>
              <a:t>&lt;html&gt;</a:t>
            </a:r>
            <a:r>
              <a:rPr lang="en-US" b="1" dirty="0">
                <a:solidFill>
                  <a:srgbClr val="313130"/>
                </a:solidFill>
                <a:latin typeface="Consolas" panose="020B0609020204030204"/>
              </a:rPr>
              <a:t> </a:t>
            </a:r>
            <a:endParaRPr lang="en-US" dirty="0"/>
          </a:p>
          <a:p>
            <a:pPr marL="0" indent="0">
              <a:buNone/>
            </a:pPr>
            <a:r>
              <a:rPr lang="en-US" b="1" i="0" dirty="0">
                <a:effectLst/>
                <a:latin typeface="Consolas" panose="020B0609020204030204"/>
              </a:rPr>
              <a:t>&lt;head&gt;</a:t>
            </a:r>
            <a:r>
              <a:rPr lang="en-US" b="1" dirty="0">
                <a:solidFill>
                  <a:srgbClr val="313130"/>
                </a:solidFill>
                <a:latin typeface="Consolas" panose="020B0609020204030204"/>
              </a:rPr>
              <a:t> </a:t>
            </a:r>
            <a:endParaRPr lang="en-US" b="1" i="0" dirty="0">
              <a:solidFill>
                <a:srgbClr val="31313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313130"/>
                </a:solidFill>
                <a:latin typeface="Consolas" panose="020B0609020204030204"/>
              </a:rPr>
              <a:t>	</a:t>
            </a:r>
            <a:r>
              <a:rPr lang="en-US" b="1" i="0" dirty="0">
                <a:effectLst/>
                <a:latin typeface="Consolas" panose="020B0609020204030204"/>
              </a:rPr>
              <a:t>&lt;title&gt;</a:t>
            </a:r>
            <a:r>
              <a:rPr lang="en-US" b="1" i="0" dirty="0">
                <a:solidFill>
                  <a:srgbClr val="313130"/>
                </a:solidFill>
                <a:effectLst/>
                <a:latin typeface="Consolas" panose="020B0609020204030204"/>
              </a:rPr>
              <a:t>About elk</a:t>
            </a:r>
            <a:r>
              <a:rPr lang="en-US" b="1" i="0" dirty="0">
                <a:effectLst/>
                <a:latin typeface="Consolas" panose="020B0609020204030204"/>
              </a:rPr>
              <a:t>&lt;/title&gt;</a:t>
            </a:r>
            <a:r>
              <a:rPr lang="en-US" b="1" dirty="0">
                <a:solidFill>
                  <a:srgbClr val="313130"/>
                </a:solidFill>
                <a:latin typeface="Consolas" panose="020B0609020204030204"/>
              </a:rPr>
              <a:t> </a:t>
            </a:r>
            <a:endParaRPr lang="en-US" b="1" i="0" dirty="0">
              <a:solidFill>
                <a:srgbClr val="31313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i="0" dirty="0">
                <a:effectLst/>
                <a:latin typeface="Consolas" panose="020B0609020204030204"/>
              </a:rPr>
              <a:t>&lt;/head&gt;</a:t>
            </a:r>
            <a:r>
              <a:rPr lang="en-US" b="1" dirty="0">
                <a:solidFill>
                  <a:srgbClr val="313130"/>
                </a:solidFill>
                <a:latin typeface="Consolas" panose="020B0609020204030204"/>
              </a:rPr>
              <a:t> </a:t>
            </a:r>
            <a:endParaRPr lang="en-US" b="1" i="0" dirty="0">
              <a:solidFill>
                <a:srgbClr val="31313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i="0" dirty="0">
                <a:effectLst/>
                <a:latin typeface="Consolas" panose="020B0609020204030204"/>
              </a:rPr>
              <a:t>&lt;body&gt;</a:t>
            </a:r>
            <a:r>
              <a:rPr lang="en-US" b="1" dirty="0">
                <a:solidFill>
                  <a:srgbClr val="313130"/>
                </a:solidFill>
                <a:latin typeface="Consolas" panose="020B0609020204030204"/>
              </a:rPr>
              <a:t> </a:t>
            </a:r>
            <a:endParaRPr lang="en-US" b="1" i="0" dirty="0">
              <a:solidFill>
                <a:srgbClr val="31313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i="0" dirty="0">
                <a:solidFill>
                  <a:srgbClr val="313130"/>
                </a:solidFill>
                <a:effectLst/>
                <a:latin typeface="Consolas" panose="020B0609020204030204"/>
              </a:rPr>
              <a:t>	The truth about elk.</a:t>
            </a:r>
            <a:r>
              <a:rPr lang="en-US" b="1" dirty="0">
                <a:solidFill>
                  <a:srgbClr val="313130"/>
                </a:solidFill>
                <a:latin typeface="Consolas" panose="020B0609020204030204"/>
              </a:rPr>
              <a:t> </a:t>
            </a:r>
            <a:endParaRPr lang="en-US" b="1" i="0" dirty="0">
              <a:solidFill>
                <a:srgbClr val="31313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i="0" dirty="0">
                <a:effectLst/>
                <a:latin typeface="Consolas" panose="020B0609020204030204"/>
              </a:rPr>
              <a:t>&lt;/body&gt;</a:t>
            </a:r>
            <a:r>
              <a:rPr lang="en-US" b="1" dirty="0">
                <a:solidFill>
                  <a:srgbClr val="313130"/>
                </a:solidFill>
                <a:latin typeface="Consolas" panose="020B0609020204030204"/>
              </a:rPr>
              <a:t> </a:t>
            </a:r>
            <a:endParaRPr lang="en-US" b="1" i="0" dirty="0">
              <a:solidFill>
                <a:srgbClr val="31313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i="0" dirty="0">
                <a:effectLst/>
                <a:latin typeface="Consolas" panose="020B0609020204030204"/>
              </a:rPr>
              <a:t>&lt;/html&gt;</a:t>
            </a:r>
            <a:endParaRPr lang="en-US" b="1" dirty="0">
              <a:latin typeface="Consolas" panose="020B0609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DOM TREE STRUCTURE</a:t>
            </a:r>
            <a:endParaRPr lang="en-US" b="1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504114"/>
            <a:ext cx="8404860" cy="4988761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CONTINUED…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solidFill>
                  <a:srgbClr val="313130"/>
                </a:solidFill>
                <a:latin typeface="BlinkMacSystemFont"/>
              </a:rPr>
              <a:t>NOTE: </a:t>
            </a:r>
            <a:r>
              <a:rPr lang="en-US">
                <a:solidFill>
                  <a:srgbClr val="313130"/>
                </a:solidFill>
                <a:latin typeface="BlinkMacSystemFont"/>
              </a:rPr>
              <a:t>Spaces and newlines are totally valid characters, like letters and digits.</a:t>
            </a:r>
            <a:endParaRPr lang="en-US">
              <a:solidFill>
                <a:srgbClr val="313130"/>
              </a:solidFill>
              <a:latin typeface="BlinkMacSystemFont"/>
            </a:endParaRPr>
          </a:p>
          <a:p>
            <a:pPr marL="0" indent="0" algn="ctr">
              <a:buNone/>
            </a:pPr>
            <a:r>
              <a:rPr lang="en-US">
                <a:solidFill>
                  <a:srgbClr val="313130"/>
                </a:solidFill>
                <a:latin typeface="BlinkMacSystemFont"/>
              </a:rPr>
              <a:t>TOP LEVEL EXECUTIONS IN DOM</a:t>
            </a:r>
            <a:endParaRPr lang="en-US">
              <a:solidFill>
                <a:srgbClr val="313130"/>
              </a:solidFill>
              <a:latin typeface="BlinkMacSystemFon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>
                <a:solidFill>
                  <a:srgbClr val="313130"/>
                </a:solidFill>
                <a:latin typeface="BlinkMacSystemFont"/>
              </a:rPr>
              <a:t>Spaces and newlines before </a:t>
            </a:r>
            <a:r>
              <a:rPr lang="en-US"/>
              <a:t>&lt;head&gt;</a:t>
            </a:r>
            <a:r>
              <a:rPr lang="en-US">
                <a:solidFill>
                  <a:srgbClr val="313130"/>
                </a:solidFill>
                <a:latin typeface="BlinkMacSystemFont"/>
              </a:rPr>
              <a:t> are ignored</a:t>
            </a:r>
            <a:endParaRPr lang="en-US">
              <a:solidFill>
                <a:srgbClr val="313130"/>
              </a:solidFill>
              <a:latin typeface="BlinkMacSystemFont"/>
            </a:endParaRPr>
          </a:p>
          <a:p>
            <a:pPr marL="514350" indent="-514350">
              <a:buAutoNum type="arabicPeriod"/>
            </a:pPr>
            <a:r>
              <a:rPr lang="en-US">
                <a:solidFill>
                  <a:srgbClr val="313130"/>
                </a:solidFill>
                <a:latin typeface="BlinkMacSystemFont"/>
              </a:rPr>
              <a:t>If we put something after &lt;/body&gt;, then that is automatically moved inside the body, at the end, as the HTML spec requires that all content must be inside &lt;body&gt;. </a:t>
            </a:r>
            <a:endParaRPr lang="en-US">
              <a:solidFill>
                <a:srgbClr val="313130"/>
              </a:solidFill>
              <a:latin typeface="BlinkMacSystemFon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SOME FEATURES OF DOM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>
                <a:solidFill>
                  <a:srgbClr val="666666"/>
                </a:solidFill>
                <a:latin typeface="BlinkMacSystemFont"/>
                <a:hlinkClick r:id="rId1"/>
              </a:rPr>
              <a:t>Autocorrection</a:t>
            </a:r>
            <a:endParaRPr lang="en-US" b="1" u="sng">
              <a:solidFill>
                <a:srgbClr val="666666"/>
              </a:solidFill>
              <a:latin typeface="BlinkMacSystemFont"/>
            </a:endParaRPr>
          </a:p>
          <a:p>
            <a:pPr marL="0" indent="0">
              <a:buNone/>
            </a:pPr>
            <a:r>
              <a:rPr lang="en-US">
                <a:solidFill>
                  <a:srgbClr val="313130"/>
                </a:solidFill>
                <a:latin typeface="BlinkMacSystemFont"/>
              </a:rPr>
              <a:t>If the browser encounters malformed HTML, it automatically corrects it when making the DOM.</a:t>
            </a:r>
            <a:endParaRPr lang="en-US">
              <a:solidFill>
                <a:srgbClr val="313130"/>
              </a:solidFill>
              <a:latin typeface="BlinkMacSystemFont"/>
            </a:endParaRPr>
          </a:p>
          <a:p>
            <a:pPr marL="0" indent="0">
              <a:buNone/>
            </a:pPr>
            <a:r>
              <a:rPr lang="en-US" b="1" err="1">
                <a:solidFill>
                  <a:srgbClr val="313130"/>
                </a:solidFill>
                <a:latin typeface="BlinkMacSystemFont"/>
              </a:rPr>
              <a:t>E.g</a:t>
            </a:r>
            <a:r>
              <a:rPr lang="en-US">
                <a:solidFill>
                  <a:srgbClr val="313130"/>
                </a:solidFill>
                <a:latin typeface="BlinkMacSystemFont"/>
              </a:rPr>
              <a:t> the top tag is always </a:t>
            </a:r>
            <a:r>
              <a:rPr lang="en-US"/>
              <a:t>&lt;html&gt;</a:t>
            </a:r>
            <a:r>
              <a:rPr lang="en-US">
                <a:solidFill>
                  <a:srgbClr val="313130"/>
                </a:solidFill>
                <a:latin typeface="BlinkMacSystemFont"/>
              </a:rPr>
              <a:t>. Even if it doesn’t exist in the document, it will exist in the DOM, because the browser will create it.</a:t>
            </a:r>
            <a:endParaRPr lang="en-US" b="1">
              <a:solidFill>
                <a:srgbClr val="313130"/>
              </a:solidFill>
              <a:latin typeface="BlinkMacSystemFont"/>
            </a:endParaRPr>
          </a:p>
          <a:p>
            <a:r>
              <a:rPr lang="en-US" b="1">
                <a:solidFill>
                  <a:srgbClr val="0070C0"/>
                </a:solidFill>
                <a:latin typeface="BlinkMacSystemFont"/>
              </a:rPr>
              <a:t>Tables always have </a:t>
            </a:r>
            <a:r>
              <a:rPr lang="en-US">
                <a:solidFill>
                  <a:srgbClr val="0070C0"/>
                </a:solidFill>
              </a:rPr>
              <a:t>&lt;</a:t>
            </a:r>
            <a:r>
              <a:rPr lang="en-US" err="1">
                <a:solidFill>
                  <a:srgbClr val="0070C0"/>
                </a:solidFill>
              </a:rPr>
              <a:t>tbody</a:t>
            </a:r>
            <a:r>
              <a:rPr lang="en-US">
                <a:solidFill>
                  <a:srgbClr val="0070C0"/>
                </a:solidFill>
              </a:rPr>
              <a:t>&gt;</a:t>
            </a:r>
            <a:endParaRPr lang="en-US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/>
              <a:t>HTML text always omits the &lt;</a:t>
            </a:r>
            <a:r>
              <a:rPr lang="en-US" err="1"/>
              <a:t>tbody</a:t>
            </a:r>
            <a:r>
              <a:rPr lang="en-US"/>
              <a:t>&gt; tag but DOM will always include it in its structure </a:t>
            </a:r>
            <a:r>
              <a:rPr lang="en-US" err="1"/>
              <a:t>i.e</a:t>
            </a:r>
            <a:r>
              <a:rPr lang="en-US"/>
              <a:t> after &lt;table&gt; but before &lt;tr&gt;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NODE TYPES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latin typeface="BlinkMacSystemFont"/>
              </a:rPr>
              <a:t>Others are</a:t>
            </a:r>
            <a:endParaRPr lang="en-US"/>
          </a:p>
          <a:p>
            <a:pPr marL="0" indent="0">
              <a:buNone/>
            </a:pPr>
            <a:r>
              <a:rPr lang="en-US" b="1" u="sng">
                <a:latin typeface="BlinkMacSystemFont"/>
              </a:rPr>
              <a:t>1. COMMENTS</a:t>
            </a:r>
            <a:endParaRPr lang="en-US" b="1" u="sng">
              <a:latin typeface="BlinkMacSystemFont"/>
            </a:endParaRPr>
          </a:p>
          <a:p>
            <a:pPr marL="0" indent="0">
              <a:buNone/>
            </a:pPr>
            <a:r>
              <a:rPr lang="en-US">
                <a:latin typeface="BlinkMacSystemFont"/>
              </a:rPr>
              <a:t>This node type will appear with the text node, it’s a rule that if something is in HTML then it also must be in the DOM tree</a:t>
            </a:r>
            <a:endParaRPr lang="en-US">
              <a:latin typeface="BlinkMacSystemFont"/>
            </a:endParaRPr>
          </a:p>
          <a:p>
            <a:pPr marL="0" indent="0">
              <a:buNone/>
            </a:pPr>
            <a:r>
              <a:rPr lang="en-US">
                <a:latin typeface="BlinkMacSystemFont"/>
              </a:rPr>
              <a:t>2. </a:t>
            </a:r>
            <a:r>
              <a:rPr lang="en-US" b="1" u="sng">
                <a:latin typeface="BlinkMacSystemFont"/>
              </a:rPr>
              <a:t>&lt;!DOCTYPE…&gt;</a:t>
            </a:r>
            <a:endParaRPr lang="en-US" b="1" u="sng">
              <a:latin typeface="BlinkMacSystemFont"/>
            </a:endParaRPr>
          </a:p>
          <a:p>
            <a:pPr marL="0" indent="0">
              <a:buNone/>
            </a:pPr>
            <a:r>
              <a:rPr lang="en-US">
                <a:solidFill>
                  <a:srgbClr val="313130"/>
                </a:solidFill>
                <a:latin typeface="BlinkMacSystemFont"/>
              </a:rPr>
              <a:t>It’s in the DOM tree right before </a:t>
            </a:r>
            <a:r>
              <a:rPr lang="en-US"/>
              <a:t>&lt;html&gt;</a:t>
            </a:r>
            <a:endParaRPr lang="en-US"/>
          </a:p>
          <a:p>
            <a:pPr marL="0" indent="0">
              <a:buNone/>
            </a:pPr>
            <a:r>
              <a:rPr lang="en-US"/>
              <a:t>3. </a:t>
            </a:r>
            <a:r>
              <a:rPr lang="en-US" b="1" u="sng"/>
              <a:t>Document object</a:t>
            </a:r>
            <a:endParaRPr lang="en-US" b="1" u="sng"/>
          </a:p>
          <a:p>
            <a:pPr marL="0" indent="0">
              <a:buNone/>
            </a:pPr>
            <a:r>
              <a:rPr lang="en-US"/>
              <a:t>Forms the entry point into DOM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5055"/>
          </a:xfrm>
        </p:spPr>
        <p:txBody>
          <a:bodyPr>
            <a:noAutofit/>
          </a:bodyPr>
          <a:lstStyle/>
          <a:p>
            <a:r>
              <a:rPr lang="en-US" sz="6000" b="1">
                <a:solidFill>
                  <a:srgbClr val="313130"/>
                </a:solidFill>
                <a:effectLst/>
                <a:latin typeface="BlinkMacSystemFont"/>
              </a:rPr>
              <a:t>DOM tree</a:t>
            </a:r>
            <a:br>
              <a:rPr lang="en-US" sz="6000" b="1">
                <a:solidFill>
                  <a:srgbClr val="313130"/>
                </a:solidFill>
                <a:effectLst/>
                <a:latin typeface="BlinkMacSystemFont"/>
              </a:rPr>
            </a:br>
            <a:endParaRPr lang="en-US" sz="6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02652"/>
            <a:ext cx="10515600" cy="54067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b="0" i="0">
                <a:solidFill>
                  <a:srgbClr val="313130"/>
                </a:solidFill>
                <a:effectLst/>
                <a:latin typeface="BlinkMacSystemFont"/>
              </a:rPr>
              <a:t>The backbone of an HTML document is tags.</a:t>
            </a:r>
            <a:endParaRPr lang="en-US" sz="3600" b="0" i="0">
              <a:solidFill>
                <a:srgbClr val="313130"/>
              </a:solidFill>
              <a:effectLst/>
              <a:latin typeface="BlinkMacSystemFont"/>
            </a:endParaRPr>
          </a:p>
          <a:p>
            <a:r>
              <a:rPr lang="en-US" sz="3600" b="0" i="0">
                <a:solidFill>
                  <a:srgbClr val="313130"/>
                </a:solidFill>
                <a:effectLst/>
                <a:latin typeface="BlinkMacSystemFont"/>
              </a:rPr>
              <a:t>According to the (DOM),</a:t>
            </a:r>
            <a:r>
              <a:rPr lang="en-US" sz="3600">
                <a:solidFill>
                  <a:srgbClr val="313130"/>
                </a:solidFill>
                <a:latin typeface="BlinkMacSystemFont"/>
              </a:rPr>
              <a:t> </a:t>
            </a:r>
            <a:r>
              <a:rPr lang="en-US" sz="3600" b="0" i="0">
                <a:solidFill>
                  <a:srgbClr val="313130"/>
                </a:solidFill>
                <a:effectLst/>
                <a:latin typeface="BlinkMacSystemFont"/>
              </a:rPr>
              <a:t> every HTML tag is an object.</a:t>
            </a:r>
            <a:endParaRPr lang="en-US" sz="3600" b="0" i="0">
              <a:solidFill>
                <a:srgbClr val="313130"/>
              </a:solidFill>
              <a:effectLst/>
              <a:latin typeface="BlinkMacSystemFont"/>
            </a:endParaRPr>
          </a:p>
          <a:p>
            <a:r>
              <a:rPr lang="en-US" sz="3600" b="0" i="0">
                <a:solidFill>
                  <a:srgbClr val="313130"/>
                </a:solidFill>
                <a:effectLst/>
                <a:latin typeface="BlinkMacSystemFont"/>
              </a:rPr>
              <a:t>Nested tags are “children” of the enclosing one</a:t>
            </a:r>
            <a:endParaRPr lang="en-US" sz="3600" b="0" i="0">
              <a:solidFill>
                <a:srgbClr val="313130"/>
              </a:solidFill>
              <a:effectLst/>
              <a:latin typeface="BlinkMacSystemFont"/>
            </a:endParaRPr>
          </a:p>
          <a:p>
            <a:r>
              <a:rPr lang="en-US" sz="3600" b="0" i="0">
                <a:solidFill>
                  <a:srgbClr val="313130"/>
                </a:solidFill>
                <a:effectLst/>
                <a:latin typeface="BlinkMacSystemFont"/>
              </a:rPr>
              <a:t>The text inside a tag is an object as well.</a:t>
            </a:r>
            <a:endParaRPr lang="en-US" sz="3600" b="0" i="0">
              <a:solidFill>
                <a:srgbClr val="313130"/>
              </a:solidFill>
              <a:effectLst/>
              <a:latin typeface="BlinkMacSystemFont"/>
            </a:endParaRPr>
          </a:p>
          <a:p>
            <a:r>
              <a:rPr lang="en-US" sz="3600" b="0" i="0">
                <a:solidFill>
                  <a:srgbClr val="313130"/>
                </a:solidFill>
                <a:effectLst/>
                <a:latin typeface="BlinkMacSystemFont"/>
              </a:rPr>
              <a:t>All these objects are accessible using JavaScript, and we can use them to modify the page.</a:t>
            </a:r>
            <a:endParaRPr lang="en-US" sz="3600" b="0" i="0">
              <a:solidFill>
                <a:srgbClr val="313130"/>
              </a:solidFill>
              <a:effectLst/>
              <a:latin typeface="BlinkMacSystemFont"/>
            </a:endParaRPr>
          </a:p>
          <a:p>
            <a:r>
              <a:rPr lang="en-US" sz="3600" b="0" i="0">
                <a:solidFill>
                  <a:srgbClr val="313130"/>
                </a:solidFill>
                <a:effectLst/>
                <a:latin typeface="BlinkMacSystemFont"/>
              </a:rPr>
              <a:t>For example, </a:t>
            </a:r>
            <a:r>
              <a:rPr lang="en-US" sz="3600" b="1" u="sng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document.body</a:t>
            </a:r>
            <a:r>
              <a:rPr lang="en-US" sz="3600" b="1" i="0" u="sng">
                <a:solidFill>
                  <a:srgbClr val="3131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linkMacSystemFont"/>
              </a:rPr>
              <a:t> </a:t>
            </a:r>
            <a:r>
              <a:rPr lang="en-US" sz="3600" b="0" i="0">
                <a:solidFill>
                  <a:srgbClr val="313130"/>
                </a:solidFill>
                <a:effectLst/>
                <a:latin typeface="BlinkMacSystemFont"/>
              </a:rPr>
              <a:t>is the object representing the </a:t>
            </a:r>
            <a:r>
              <a:rPr lang="en-US" sz="3600"/>
              <a:t>&lt;body&gt;</a:t>
            </a:r>
            <a:r>
              <a:rPr lang="en-US" sz="3600" b="0" i="0">
                <a:solidFill>
                  <a:srgbClr val="313130"/>
                </a:solidFill>
                <a:effectLst/>
                <a:latin typeface="BlinkMacSystemFont"/>
              </a:rPr>
              <a:t> tag.</a:t>
            </a:r>
            <a:endParaRPr lang="en-US" sz="3600" b="0" i="0">
              <a:solidFill>
                <a:srgbClr val="313130"/>
              </a:solidFill>
              <a:effectLst/>
              <a:latin typeface="BlinkMacSystemFon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CONTINUED…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solidFill>
                  <a:srgbClr val="313130"/>
                </a:solidFill>
                <a:latin typeface="BlinkMacSystemFont"/>
              </a:rPr>
              <a:t>Tags are </a:t>
            </a:r>
            <a:r>
              <a:rPr lang="en-US" b="1" i="1">
                <a:solidFill>
                  <a:srgbClr val="313130"/>
                </a:solidFill>
                <a:latin typeface="BlinkMacSystemFont"/>
              </a:rPr>
              <a:t>element nodes</a:t>
            </a:r>
            <a:r>
              <a:rPr lang="en-US" b="1">
                <a:solidFill>
                  <a:srgbClr val="313130"/>
                </a:solidFill>
                <a:latin typeface="BlinkMacSystemFont"/>
              </a:rPr>
              <a:t> </a:t>
            </a:r>
            <a:r>
              <a:rPr lang="en-US">
                <a:solidFill>
                  <a:srgbClr val="313130"/>
                </a:solidFill>
                <a:latin typeface="BlinkMacSystemFont"/>
              </a:rPr>
              <a:t>(or just elements) and form the tree structure: </a:t>
            </a:r>
            <a:r>
              <a:rPr lang="en-US"/>
              <a:t>&lt;html&gt;</a:t>
            </a:r>
            <a:r>
              <a:rPr lang="en-US">
                <a:solidFill>
                  <a:srgbClr val="313130"/>
                </a:solidFill>
                <a:latin typeface="BlinkMacSystemFont"/>
              </a:rPr>
              <a:t> is at the root, then </a:t>
            </a:r>
            <a:r>
              <a:rPr lang="en-US"/>
              <a:t>&lt;head&gt;</a:t>
            </a:r>
            <a:r>
              <a:rPr lang="en-US">
                <a:solidFill>
                  <a:srgbClr val="313130"/>
                </a:solidFill>
                <a:latin typeface="BlinkMacSystemFont"/>
              </a:rPr>
              <a:t> and </a:t>
            </a:r>
            <a:r>
              <a:rPr lang="en-US"/>
              <a:t>&lt;body&gt;</a:t>
            </a:r>
            <a:r>
              <a:rPr lang="en-US">
                <a:solidFill>
                  <a:srgbClr val="313130"/>
                </a:solidFill>
                <a:latin typeface="BlinkMacSystemFont"/>
              </a:rPr>
              <a:t> are its children</a:t>
            </a:r>
            <a:endParaRPr lang="en-US">
              <a:solidFill>
                <a:srgbClr val="313130"/>
              </a:solidFill>
              <a:latin typeface="BlinkMacSystemFont"/>
            </a:endParaRPr>
          </a:p>
          <a:p>
            <a:r>
              <a:rPr lang="en-US">
                <a:solidFill>
                  <a:srgbClr val="313130"/>
                </a:solidFill>
                <a:latin typeface="BlinkMacSystemFont"/>
              </a:rPr>
              <a:t>The text inside elements forms </a:t>
            </a:r>
            <a:r>
              <a:rPr lang="en-US" i="1">
                <a:solidFill>
                  <a:srgbClr val="313130"/>
                </a:solidFill>
                <a:latin typeface="BlinkMacSystemFont"/>
              </a:rPr>
              <a:t>text nodes</a:t>
            </a:r>
            <a:r>
              <a:rPr lang="en-US">
                <a:solidFill>
                  <a:srgbClr val="313130"/>
                </a:solidFill>
                <a:latin typeface="BlinkMacSystemFont"/>
              </a:rPr>
              <a:t>, labelled as </a:t>
            </a:r>
            <a:r>
              <a:rPr lang="en-US"/>
              <a:t>#text</a:t>
            </a:r>
            <a:endParaRPr lang="en-US"/>
          </a:p>
          <a:p>
            <a:r>
              <a:rPr lang="en-US">
                <a:solidFill>
                  <a:srgbClr val="313130"/>
                </a:solidFill>
                <a:latin typeface="BlinkMacSystemFont"/>
              </a:rPr>
              <a:t>A text node contains only a string. It may not have children and is always a leaf of the tree.</a:t>
            </a:r>
            <a:endParaRPr lang="en-US">
              <a:solidFill>
                <a:srgbClr val="313130"/>
              </a:solidFill>
              <a:latin typeface="BlinkMacSystemFont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TREE STRUCTURE OF DOM (NO SPACES)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5900"/>
            <a:ext cx="10515600" cy="4691063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solidFill>
                  <a:srgbClr val="313130"/>
                </a:solidFill>
                <a:latin typeface="Consolas" panose="020B0609020204030204" pitchFamily="49" charset="0"/>
              </a:rPr>
              <a:t>&lt;!DOCTYPE HTML&gt; </a:t>
            </a:r>
            <a:endParaRPr lang="en-US">
              <a:solidFill>
                <a:srgbClr val="31313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&lt;html&gt;&lt;head&gt;&lt;title&gt;</a:t>
            </a:r>
            <a:r>
              <a:rPr lang="en-US">
                <a:solidFill>
                  <a:srgbClr val="313130"/>
                </a:solidFill>
                <a:latin typeface="Consolas" panose="020B0609020204030204" pitchFamily="49" charset="0"/>
              </a:rPr>
              <a:t>About elk</a:t>
            </a:r>
            <a:r>
              <a:rPr lang="en-US">
                <a:latin typeface="Consolas" panose="020B0609020204030204" pitchFamily="49" charset="0"/>
              </a:rPr>
              <a:t>&lt;/title&gt;&lt;/head&gt;&lt;body&gt;</a:t>
            </a:r>
            <a:r>
              <a:rPr lang="en-US">
                <a:solidFill>
                  <a:srgbClr val="313130"/>
                </a:solidFill>
                <a:latin typeface="Consolas" panose="020B0609020204030204" pitchFamily="49" charset="0"/>
              </a:rPr>
              <a:t>The truth about elk.</a:t>
            </a:r>
            <a:r>
              <a:rPr lang="en-US">
                <a:latin typeface="Consolas" panose="020B0609020204030204" pitchFamily="49" charset="0"/>
              </a:rPr>
              <a:t>&lt;/body&gt;&lt;/html&gt;</a:t>
            </a: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811462"/>
            <a:ext cx="9311640" cy="40465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VIEWING THE DOM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>
                <a:hlinkClick r:id="rId1"/>
              </a:rPr>
              <a:t>1. USE THE LIVE DOM VIEWER</a:t>
            </a:r>
            <a:endParaRPr lang="en-US" u="sng"/>
          </a:p>
          <a:p>
            <a:r>
              <a:rPr lang="en-US">
                <a:solidFill>
                  <a:srgbClr val="0563C1"/>
                </a:solidFill>
                <a:hlinkClick r:id="rId1"/>
              </a:rPr>
              <a:t>Live DOM Viewer</a:t>
            </a:r>
            <a:endParaRPr lang="en-US"/>
          </a:p>
          <a:p>
            <a:r>
              <a:rPr lang="en-US">
                <a:hlinkClick r:id="rId1"/>
              </a:rPr>
              <a:t>http://software.hixie.ch/utilities/js/live-dom-viewer/</a:t>
            </a:r>
            <a:endParaRPr lang="en-US"/>
          </a:p>
          <a:p>
            <a:pPr marL="0" indent="0">
              <a:buNone/>
            </a:pPr>
            <a:r>
              <a:rPr lang="en-US"/>
              <a:t>2. </a:t>
            </a:r>
            <a:r>
              <a:rPr lang="en-US">
                <a:solidFill>
                  <a:srgbClr val="313130"/>
                </a:solidFill>
                <a:latin typeface="BlinkMacSystemFont"/>
              </a:rPr>
              <a:t>use the browser developer tools. </a:t>
            </a:r>
            <a:endParaRPr lang="en-US">
              <a:solidFill>
                <a:srgbClr val="313130"/>
              </a:solidFill>
              <a:latin typeface="BlinkMacSystemFont"/>
            </a:endParaRPr>
          </a:p>
          <a:p>
            <a:pPr marL="0" indent="0">
              <a:buNone/>
            </a:pPr>
            <a:r>
              <a:rPr lang="en-US">
                <a:solidFill>
                  <a:srgbClr val="313130"/>
                </a:solidFill>
                <a:latin typeface="BlinkMacSystemFont"/>
              </a:rPr>
              <a:t>	</a:t>
            </a:r>
            <a:r>
              <a:rPr lang="en-US" b="1">
                <a:solidFill>
                  <a:srgbClr val="313130"/>
                </a:solidFill>
                <a:latin typeface="BlinkMacSystemFont"/>
              </a:rPr>
              <a:t>THEN switch to Elements tab</a:t>
            </a:r>
            <a:endParaRPr lang="en-US" b="1">
              <a:solidFill>
                <a:srgbClr val="313130"/>
              </a:solidFill>
              <a:latin typeface="BlinkMacSystemFont"/>
            </a:endParaRPr>
          </a:p>
          <a:p>
            <a:pPr marL="0" indent="0">
              <a:buNone/>
            </a:pPr>
            <a:r>
              <a:rPr lang="en-US" b="1">
                <a:solidFill>
                  <a:srgbClr val="313130"/>
                </a:solidFill>
                <a:latin typeface="BlinkMacSystemFont"/>
              </a:rPr>
              <a:t>NB </a:t>
            </a:r>
            <a:r>
              <a:rPr lang="en-US">
                <a:solidFill>
                  <a:srgbClr val="313130"/>
                </a:solidFill>
                <a:latin typeface="BlinkMacSystemFont"/>
              </a:rPr>
              <a:t>The DOM structure in developer tools is simplified.</a:t>
            </a:r>
            <a:endParaRPr lang="en-US">
              <a:solidFill>
                <a:srgbClr val="313130"/>
              </a:solidFill>
              <a:latin typeface="BlinkMacSystemFont"/>
            </a:endParaRPr>
          </a:p>
          <a:p>
            <a:pPr marL="0" indent="0">
              <a:buNone/>
            </a:pPr>
            <a:r>
              <a:rPr lang="en-US" b="1">
                <a:solidFill>
                  <a:srgbClr val="313130"/>
                </a:solidFill>
                <a:latin typeface="BlinkMacSystemFont"/>
              </a:rPr>
              <a:t>3. </a:t>
            </a:r>
            <a:r>
              <a:rPr lang="en-US">
                <a:solidFill>
                  <a:srgbClr val="313130"/>
                </a:solidFill>
                <a:latin typeface="BlinkMacSystemFont"/>
              </a:rPr>
              <a:t>Right click on a webpage and select “inspect”</a:t>
            </a:r>
            <a:endParaRPr lang="en-US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031B4E"/>
                </a:solidFill>
                <a:latin typeface="Epilogue"/>
              </a:rPr>
              <a:t>How To Access Elements in the DOM</a:t>
            </a:r>
            <a:br>
              <a:rPr lang="en-US" b="1">
                <a:solidFill>
                  <a:srgbClr val="031B4E"/>
                </a:solidFill>
                <a:latin typeface="Epilogue"/>
              </a:rPr>
            </a:br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690688"/>
          <a:ext cx="10515600" cy="246888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r>
                        <a:rPr lang="en-US" b="1" u="sng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Gets</a:t>
                      </a:r>
                      <a:endParaRPr lang="en-US" b="1" u="sng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u="sng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Selector Syntax</a:t>
                      </a:r>
                      <a:endParaRPr lang="en-US" b="1" u="sng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u="sng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Method</a:t>
                      </a:r>
                      <a:endParaRPr lang="en-US" b="1" u="sng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ID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#demo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</a:rPr>
                        <a:t>getElementById</a:t>
                      </a:r>
                      <a:r>
                        <a:rPr lang="en-US" dirty="0">
                          <a:effectLst/>
                        </a:rPr>
                        <a:t>("demo")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Class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.demo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</a:rPr>
                        <a:t>getElementsByClassName</a:t>
                      </a:r>
                      <a:r>
                        <a:rPr lang="en-US" dirty="0">
                          <a:effectLst/>
                        </a:rPr>
                        <a:t>()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Tag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demo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</a:rPr>
                        <a:t>getElementsByTagName</a:t>
                      </a:r>
                      <a:r>
                        <a:rPr lang="en-US" dirty="0">
                          <a:effectLst/>
                        </a:rPr>
                        <a:t>("article")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Selector (single)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</a:rPr>
                        <a:t>querySelector</a:t>
                      </a:r>
                      <a:r>
                        <a:rPr lang="en-US" dirty="0">
                          <a:effectLst/>
                        </a:rPr>
                        <a:t>("#demo-query")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Selector (all)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</a:rPr>
                        <a:t>querySelectorAll</a:t>
                      </a:r>
                      <a:r>
                        <a:rPr lang="en-US" dirty="0">
                          <a:effectLst/>
                        </a:rPr>
                        <a:t>(".demo-query-all")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8200" y="4183380"/>
            <a:ext cx="10515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CONSIDER THE EXAMPLES BELOW</a:t>
            </a:r>
            <a:endParaRPr lang="en-US" sz="2400"/>
          </a:p>
          <a:p>
            <a:r>
              <a:rPr lang="en-US" sz="2400"/>
              <a:t>&lt;div id="demo"&gt;</a:t>
            </a:r>
            <a:r>
              <a:rPr lang="en-US" sz="2400" b="1"/>
              <a:t>Access me by ID</a:t>
            </a:r>
            <a:r>
              <a:rPr lang="en-US" sz="2400"/>
              <a:t>&lt;/div&gt;</a:t>
            </a:r>
            <a:endParaRPr lang="en-US" sz="2400"/>
          </a:p>
          <a:p>
            <a:r>
              <a:rPr lang="en-US" sz="2400"/>
              <a:t>&lt;div class="demo"&gt;</a:t>
            </a:r>
            <a:r>
              <a:rPr lang="en-US" sz="2400" b="1"/>
              <a:t>Access me by class (1)&lt;/</a:t>
            </a:r>
            <a:r>
              <a:rPr lang="en-US" sz="2400"/>
              <a:t>div&gt;</a:t>
            </a:r>
            <a:endParaRPr lang="en-US" sz="2400"/>
          </a:p>
          <a:p>
            <a:r>
              <a:rPr lang="en-US" sz="2400"/>
              <a:t>&lt;article&gt;</a:t>
            </a:r>
            <a:r>
              <a:rPr lang="en-US" sz="2400" b="1"/>
              <a:t>Access me by tag (1)&lt;/</a:t>
            </a:r>
            <a:r>
              <a:rPr lang="en-US" sz="2400"/>
              <a:t>article&gt;</a:t>
            </a:r>
            <a:endParaRPr lang="en-US" sz="2400"/>
          </a:p>
          <a:p>
            <a:r>
              <a:rPr lang="en-US" sz="2400"/>
              <a:t>&lt;div id="demo-query"&gt;</a:t>
            </a:r>
            <a:r>
              <a:rPr lang="en-US" sz="2400" b="1"/>
              <a:t>Access me by query</a:t>
            </a:r>
            <a:r>
              <a:rPr lang="en-US" sz="2400"/>
              <a:t>&lt;/div&gt;</a:t>
            </a:r>
            <a:endParaRPr lang="en-US" sz="2400"/>
          </a:p>
          <a:p>
            <a:r>
              <a:rPr lang="en-US" sz="2400"/>
              <a:t>&lt;div class="demo-query-all"&gt;</a:t>
            </a:r>
            <a:r>
              <a:rPr lang="en-US" sz="2400" b="1"/>
              <a:t>Access me by query all (1)&lt;/</a:t>
            </a:r>
            <a:r>
              <a:rPr lang="en-US" sz="2400"/>
              <a:t>div&gt;</a:t>
            </a:r>
            <a:endParaRPr lang="en-US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>
                <a:solidFill>
                  <a:srgbClr val="666666"/>
                </a:solidFill>
                <a:latin typeface="BlinkMacSystemFont"/>
                <a:hlinkClick r:id="rId1"/>
              </a:rPr>
              <a:t>Interaction with console</a:t>
            </a:r>
            <a:br>
              <a:rPr lang="en-US" b="1">
                <a:solidFill>
                  <a:srgbClr val="313130"/>
                </a:solidFill>
                <a:latin typeface="BlinkMacSystemFont"/>
              </a:rPr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8720"/>
            <a:ext cx="10515600" cy="4988243"/>
          </a:xfrm>
        </p:spPr>
        <p:txBody>
          <a:bodyPr>
            <a:normAutofit fontScale="92500" lnSpcReduction="10000"/>
          </a:bodyPr>
          <a:lstStyle/>
          <a:p>
            <a:r>
              <a:rPr lang="en-US" sz="3600">
                <a:solidFill>
                  <a:srgbClr val="313130"/>
                </a:solidFill>
                <a:latin typeface="BlinkMacSystemFont"/>
              </a:rPr>
              <a:t>As we work the DOM, we also may want to apply JavaScript to it.</a:t>
            </a:r>
            <a:endParaRPr lang="en-US" sz="3600">
              <a:solidFill>
                <a:srgbClr val="313130"/>
              </a:solidFill>
              <a:latin typeface="BlinkMacSystemFont"/>
            </a:endParaRPr>
          </a:p>
          <a:p>
            <a:r>
              <a:rPr lang="en-US" sz="3600">
                <a:solidFill>
                  <a:srgbClr val="313130"/>
                </a:solidFill>
                <a:latin typeface="BlinkMacSystemFont"/>
              </a:rPr>
              <a:t>The last selected element is available as </a:t>
            </a:r>
            <a:r>
              <a:rPr lang="en-US" sz="3600"/>
              <a:t>$0</a:t>
            </a:r>
            <a:endParaRPr lang="en-US" sz="3600">
              <a:solidFill>
                <a:srgbClr val="313130"/>
              </a:solidFill>
              <a:latin typeface="BlinkMacSystemFont"/>
            </a:endParaRPr>
          </a:p>
          <a:p>
            <a:r>
              <a:rPr lang="en-US" sz="3600">
                <a:solidFill>
                  <a:srgbClr val="313130"/>
                </a:solidFill>
                <a:latin typeface="BlinkMacSystemFont"/>
              </a:rPr>
              <a:t>We can run commands on them.</a:t>
            </a:r>
            <a:endParaRPr lang="en-US" sz="3600">
              <a:solidFill>
                <a:srgbClr val="313130"/>
              </a:solidFill>
              <a:latin typeface="BlinkMacSystemFont"/>
            </a:endParaRPr>
          </a:p>
          <a:p>
            <a:pPr marL="0" indent="0">
              <a:buNone/>
            </a:pPr>
            <a:r>
              <a:rPr lang="en-US" sz="3600">
                <a:solidFill>
                  <a:srgbClr val="313130"/>
                </a:solidFill>
                <a:latin typeface="BlinkMacSystemFont"/>
              </a:rPr>
              <a:t> For instance, </a:t>
            </a:r>
            <a:endParaRPr lang="en-US" sz="3600">
              <a:solidFill>
                <a:srgbClr val="313130"/>
              </a:solidFill>
              <a:latin typeface="BlinkMacSystemFont"/>
            </a:endParaRPr>
          </a:p>
          <a:p>
            <a:pPr marL="0" indent="0">
              <a:buNone/>
            </a:pPr>
            <a:r>
              <a:rPr lang="en-US" sz="3600">
                <a:solidFill>
                  <a:srgbClr val="313130"/>
                </a:solidFill>
                <a:latin typeface="BlinkMacSystemFont"/>
              </a:rPr>
              <a:t>$0.style.background = 'red’ //makes the selected list item red</a:t>
            </a:r>
            <a:endParaRPr lang="en-US" sz="3600">
              <a:solidFill>
                <a:srgbClr val="313130"/>
              </a:solidFill>
              <a:latin typeface="BlinkMacSystemFont"/>
            </a:endParaRPr>
          </a:p>
          <a:p>
            <a:r>
              <a:rPr lang="en-US" sz="3600"/>
              <a:t>Changes made are temporary ,will be lost every time the browser is reopened</a:t>
            </a:r>
            <a:br>
              <a:rPr lang="en-US"/>
            </a:b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4D5B7C"/>
                </a:solidFill>
                <a:latin typeface="Epilogue"/>
              </a:rPr>
              <a:t>Accessing Elements by ID</a:t>
            </a:r>
            <a:br>
              <a:rPr lang="en-US" b="1">
                <a:solidFill>
                  <a:srgbClr val="4D5B7C"/>
                </a:solidFill>
                <a:latin typeface="Epilogue"/>
              </a:rPr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>
                <a:solidFill>
                  <a:srgbClr val="4D5B7C"/>
                </a:solidFill>
                <a:latin typeface="Inter"/>
              </a:rPr>
              <a:t>In order to be accessed by ID, the HTML element must have an </a:t>
            </a:r>
            <a:r>
              <a:rPr lang="en-US"/>
              <a:t>id</a:t>
            </a:r>
            <a:r>
              <a:rPr lang="en-US">
                <a:solidFill>
                  <a:srgbClr val="4D5B7C"/>
                </a:solidFill>
                <a:latin typeface="Inter"/>
              </a:rPr>
              <a:t> attribute</a:t>
            </a:r>
            <a:endParaRPr lang="en-US">
              <a:solidFill>
                <a:srgbClr val="4D5B7C"/>
              </a:solidFill>
              <a:latin typeface="Inter"/>
            </a:endParaRPr>
          </a:p>
          <a:p>
            <a:r>
              <a:rPr lang="en-US" err="1">
                <a:solidFill>
                  <a:srgbClr val="4D5B7C"/>
                </a:solidFill>
                <a:latin typeface="Inter"/>
              </a:rPr>
              <a:t>E.g</a:t>
            </a:r>
            <a:r>
              <a:rPr lang="en-US">
                <a:solidFill>
                  <a:srgbClr val="4D5B7C"/>
                </a:solidFill>
                <a:latin typeface="Inter"/>
              </a:rPr>
              <a:t> 	</a:t>
            </a:r>
            <a:endParaRPr lang="en-US">
              <a:solidFill>
                <a:srgbClr val="4D5B7C"/>
              </a:solidFill>
              <a:latin typeface="Inter"/>
            </a:endParaRPr>
          </a:p>
          <a:p>
            <a:r>
              <a:rPr lang="en-US"/>
              <a:t>&lt;div id="demo"&gt;Access me by ID&lt;/div&gt;</a:t>
            </a:r>
            <a:endParaRPr lang="en-US"/>
          </a:p>
          <a:p>
            <a:r>
              <a:rPr lang="en-US" b="1" i="1" err="1"/>
              <a:t>document.getElementById</a:t>
            </a:r>
            <a:r>
              <a:rPr lang="en-US" b="1" i="1"/>
              <a:t>(); </a:t>
            </a:r>
            <a:r>
              <a:rPr lang="en-US"/>
              <a:t>method is used in this case</a:t>
            </a:r>
            <a:endParaRPr lang="en-US"/>
          </a:p>
          <a:p>
            <a:pPr marL="0" indent="0">
              <a:buNone/>
            </a:pPr>
            <a:r>
              <a:rPr lang="en-US" err="1"/>
              <a:t>Eg</a:t>
            </a:r>
            <a:r>
              <a:rPr lang="en-US"/>
              <a:t>  	const </a:t>
            </a:r>
            <a:r>
              <a:rPr lang="en-US" err="1"/>
              <a:t>demoId</a:t>
            </a:r>
            <a:r>
              <a:rPr lang="en-US"/>
              <a:t> = </a:t>
            </a:r>
            <a:r>
              <a:rPr lang="en-US" err="1"/>
              <a:t>document.getElementById</a:t>
            </a:r>
            <a:r>
              <a:rPr lang="en-US"/>
              <a:t>('demo’);</a:t>
            </a:r>
            <a:endParaRPr lang="en-US"/>
          </a:p>
          <a:p>
            <a:pPr marL="0" indent="0">
              <a:buNone/>
            </a:pPr>
            <a:r>
              <a:rPr lang="en-US"/>
              <a:t>	console.log(</a:t>
            </a:r>
            <a:r>
              <a:rPr lang="en-US" err="1"/>
              <a:t>demoId</a:t>
            </a:r>
            <a:r>
              <a:rPr lang="en-US"/>
              <a:t>);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err="1"/>
              <a:t>demoId.style.border</a:t>
            </a:r>
            <a:r>
              <a:rPr lang="en-US"/>
              <a:t> = '1px solid purple';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4D5B7C"/>
                </a:solidFill>
                <a:latin typeface="Epilogue"/>
              </a:rPr>
              <a:t>Accessing Elements by Class</a:t>
            </a:r>
            <a:br>
              <a:rPr lang="en-US" b="1">
                <a:solidFill>
                  <a:srgbClr val="4D5B7C"/>
                </a:solidFill>
                <a:latin typeface="Epilogue"/>
              </a:rPr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3000"/>
            <a:ext cx="10515600" cy="5033963"/>
          </a:xfrm>
        </p:spPr>
        <p:txBody>
          <a:bodyPr>
            <a:normAutofit lnSpcReduction="10000"/>
          </a:bodyPr>
          <a:lstStyle/>
          <a:p>
            <a:r>
              <a:rPr lang="en-US">
                <a:solidFill>
                  <a:srgbClr val="4D5B7C"/>
                </a:solidFill>
                <a:latin typeface="Inter"/>
              </a:rPr>
              <a:t>The</a:t>
            </a:r>
            <a:r>
              <a:rPr lang="en-US">
                <a:latin typeface="Inter"/>
              </a:rPr>
              <a:t> </a:t>
            </a:r>
            <a:r>
              <a:rPr lang="en-US">
                <a:latin typeface="Inter"/>
                <a:hlinkClick r:id="rId1"/>
              </a:rPr>
              <a:t>class</a:t>
            </a:r>
            <a:r>
              <a:rPr lang="en-US">
                <a:latin typeface="Inter"/>
              </a:rPr>
              <a:t> </a:t>
            </a:r>
            <a:r>
              <a:rPr lang="en-US">
                <a:solidFill>
                  <a:srgbClr val="4D5B7C"/>
                </a:solidFill>
                <a:latin typeface="Inter"/>
              </a:rPr>
              <a:t>attribute is used to access one or more specific elements in the DOM.</a:t>
            </a:r>
            <a:r>
              <a:rPr lang="en-US"/>
              <a:t> </a:t>
            </a:r>
            <a:endParaRPr lang="en-US"/>
          </a:p>
          <a:p>
            <a:r>
              <a:rPr lang="en-US" err="1"/>
              <a:t>document.getElementByClassName</a:t>
            </a:r>
            <a:r>
              <a:rPr lang="en-US"/>
              <a:t>(); method is used</a:t>
            </a:r>
            <a:endParaRPr lang="en-US"/>
          </a:p>
          <a:p>
            <a:r>
              <a:rPr lang="en-US" err="1"/>
              <a:t>eg</a:t>
            </a:r>
            <a:endParaRPr lang="en-US"/>
          </a:p>
          <a:p>
            <a:pPr marL="0" indent="0">
              <a:buNone/>
            </a:pPr>
            <a:r>
              <a:rPr lang="en-US"/>
              <a:t>&lt;div class="demo"&gt;Access me by class (1)&lt;/div&gt; </a:t>
            </a:r>
            <a:endParaRPr lang="en-US"/>
          </a:p>
          <a:p>
            <a:pPr marL="0" indent="0">
              <a:buNone/>
            </a:pPr>
            <a:r>
              <a:rPr lang="en-US"/>
              <a:t>&lt;div class="demo“&gt;Access me by class (2)&lt;/div&gt;</a:t>
            </a:r>
            <a:endParaRPr lang="en-US"/>
          </a:p>
          <a:p>
            <a:pPr marL="0" indent="0">
              <a:buNone/>
            </a:pPr>
            <a:r>
              <a:rPr lang="pt-BR"/>
              <a:t>const demoClass = document.getElementsByClassName('demo’);</a:t>
            </a:r>
            <a:endParaRPr lang="pt-BR"/>
          </a:p>
          <a:p>
            <a:pPr marL="0" indent="0">
              <a:buNone/>
            </a:pPr>
            <a:r>
              <a:rPr lang="pt-BR"/>
              <a:t>//since it has a number of objects with same class(use array approach)</a:t>
            </a:r>
            <a:endParaRPr lang="pt-BR"/>
          </a:p>
          <a:p>
            <a:pPr marL="0" indent="0">
              <a:buNone/>
            </a:pPr>
            <a:r>
              <a:rPr lang="en-US"/>
              <a:t>for (</a:t>
            </a:r>
            <a:r>
              <a:rPr lang="en-US" err="1"/>
              <a:t>i</a:t>
            </a:r>
            <a:r>
              <a:rPr lang="en-US"/>
              <a:t> = 0; </a:t>
            </a:r>
            <a:r>
              <a:rPr lang="en-US" err="1"/>
              <a:t>i</a:t>
            </a:r>
            <a:r>
              <a:rPr lang="en-US"/>
              <a:t> &lt; </a:t>
            </a:r>
            <a:r>
              <a:rPr lang="en-US" err="1"/>
              <a:t>demoClass.length</a:t>
            </a:r>
            <a:r>
              <a:rPr lang="en-US"/>
              <a:t>; </a:t>
            </a:r>
            <a:r>
              <a:rPr lang="en-US" err="1"/>
              <a:t>i</a:t>
            </a:r>
            <a:r>
              <a:rPr lang="en-US"/>
              <a:t>++) { </a:t>
            </a: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rPr lang="en-US" err="1"/>
              <a:t>demoClass</a:t>
            </a:r>
            <a:r>
              <a:rPr lang="en-US"/>
              <a:t>[</a:t>
            </a:r>
            <a:r>
              <a:rPr lang="en-US" err="1"/>
              <a:t>i</a:t>
            </a:r>
            <a:r>
              <a:rPr lang="en-US"/>
              <a:t>].</a:t>
            </a:r>
            <a:r>
              <a:rPr lang="en-US" err="1"/>
              <a:t>style.border</a:t>
            </a:r>
            <a:r>
              <a:rPr lang="en-US"/>
              <a:t> = '1px solid orange'; </a:t>
            </a:r>
            <a:endParaRPr lang="en-US"/>
          </a:p>
          <a:p>
            <a:pPr marL="0" indent="0">
              <a:buNone/>
            </a:pPr>
            <a:r>
              <a:rPr lang="en-US"/>
              <a:t>}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9055"/>
            <a:ext cx="10515600" cy="1028700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4D5B7C"/>
                </a:solidFill>
                <a:latin typeface="Epilogue"/>
              </a:rPr>
              <a:t>Accessing Elements by Tag</a:t>
            </a:r>
            <a:br>
              <a:rPr lang="en-US" b="1">
                <a:solidFill>
                  <a:srgbClr val="4D5B7C"/>
                </a:solidFill>
                <a:latin typeface="Epilogue"/>
              </a:rPr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>
                <a:solidFill>
                  <a:srgbClr val="4D5B7C"/>
                </a:solidFill>
                <a:latin typeface="Inter"/>
              </a:rPr>
              <a:t>A less specific way to access multiple elements on the page would be by its HTML tag name</a:t>
            </a:r>
            <a:endParaRPr lang="en-US">
              <a:solidFill>
                <a:srgbClr val="4D5B7C"/>
              </a:solidFill>
              <a:latin typeface="Inter"/>
            </a:endParaRPr>
          </a:p>
          <a:p>
            <a:r>
              <a:rPr lang="en-US" err="1"/>
              <a:t>document.getElementsByTagName</a:t>
            </a:r>
            <a:r>
              <a:rPr lang="en-US"/>
              <a:t>(); is used</a:t>
            </a:r>
            <a:endParaRPr lang="en-US"/>
          </a:p>
          <a:p>
            <a:r>
              <a:rPr lang="en-US" err="1"/>
              <a:t>Eg</a:t>
            </a:r>
            <a:r>
              <a:rPr lang="en-US"/>
              <a:t> having	&lt;article&gt;Access me by tag (1)&lt;/article&gt;</a:t>
            </a:r>
            <a:endParaRPr lang="en-US"/>
          </a:p>
          <a:p>
            <a:pPr marL="0" indent="0">
              <a:buNone/>
            </a:pPr>
            <a:r>
              <a:rPr lang="en-US"/>
              <a:t>		&lt;article&gt;Access me by tag (2)&lt;/article&gt;</a:t>
            </a:r>
            <a:endParaRPr lang="en-US"/>
          </a:p>
          <a:p>
            <a:pPr marL="0" indent="0">
              <a:buNone/>
            </a:pPr>
            <a:r>
              <a:rPr lang="en-US"/>
              <a:t>const </a:t>
            </a:r>
            <a:r>
              <a:rPr lang="en-US" err="1"/>
              <a:t>demoTag</a:t>
            </a:r>
            <a:r>
              <a:rPr lang="en-US"/>
              <a:t> = </a:t>
            </a:r>
            <a:r>
              <a:rPr lang="en-US" err="1"/>
              <a:t>document.getElementsByTagName</a:t>
            </a:r>
            <a:r>
              <a:rPr lang="en-US"/>
              <a:t>('article'); </a:t>
            </a:r>
            <a:endParaRPr lang="en-US"/>
          </a:p>
          <a:p>
            <a:pPr marL="0" indent="0">
              <a:buNone/>
            </a:pPr>
            <a:r>
              <a:rPr lang="en-US"/>
              <a:t>for (</a:t>
            </a:r>
            <a:r>
              <a:rPr lang="en-US" err="1"/>
              <a:t>i</a:t>
            </a:r>
            <a:r>
              <a:rPr lang="en-US"/>
              <a:t> = 0; </a:t>
            </a:r>
            <a:r>
              <a:rPr lang="en-US" err="1"/>
              <a:t>i</a:t>
            </a:r>
            <a:r>
              <a:rPr lang="en-US"/>
              <a:t> &lt; </a:t>
            </a:r>
            <a:r>
              <a:rPr lang="en-US" err="1"/>
              <a:t>demoTag.length</a:t>
            </a:r>
            <a:r>
              <a:rPr lang="en-US"/>
              <a:t>; </a:t>
            </a:r>
            <a:r>
              <a:rPr lang="en-US" err="1"/>
              <a:t>i</a:t>
            </a:r>
            <a:r>
              <a:rPr lang="en-US"/>
              <a:t>++) { </a:t>
            </a:r>
            <a:endParaRPr lang="en-US"/>
          </a:p>
          <a:p>
            <a:pPr marL="0" indent="0">
              <a:buNone/>
            </a:pPr>
            <a:r>
              <a:rPr lang="en-US" err="1"/>
              <a:t>demoTag</a:t>
            </a:r>
            <a:r>
              <a:rPr lang="en-US"/>
              <a:t>[</a:t>
            </a:r>
            <a:r>
              <a:rPr lang="en-US" err="1"/>
              <a:t>i</a:t>
            </a:r>
            <a:r>
              <a:rPr lang="en-US"/>
              <a:t>].</a:t>
            </a:r>
            <a:r>
              <a:rPr lang="en-US" err="1"/>
              <a:t>style.border</a:t>
            </a:r>
            <a:r>
              <a:rPr lang="en-US"/>
              <a:t> = '1px solid blue'; </a:t>
            </a:r>
            <a:endParaRPr lang="en-US"/>
          </a:p>
          <a:p>
            <a:pPr marL="0" indent="0">
              <a:buNone/>
            </a:pPr>
            <a:r>
              <a:rPr lang="en-US"/>
              <a:t>}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4D5B7C"/>
                </a:solidFill>
                <a:latin typeface="Epilogue"/>
              </a:rPr>
              <a:t>Query Selectors</a:t>
            </a:r>
            <a:br>
              <a:rPr lang="en-US" b="1">
                <a:solidFill>
                  <a:srgbClr val="4D5B7C"/>
                </a:solidFill>
                <a:latin typeface="Epilogue"/>
              </a:rPr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0950"/>
            <a:ext cx="10515600" cy="5385435"/>
          </a:xfrm>
        </p:spPr>
        <p:txBody>
          <a:bodyPr>
            <a:normAutofit/>
          </a:bodyPr>
          <a:lstStyle/>
          <a:p>
            <a:r>
              <a:rPr lang="en-US"/>
              <a:t>Syntax </a:t>
            </a: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rPr lang="en-US" err="1"/>
              <a:t>document.querySelector</a:t>
            </a:r>
            <a:r>
              <a:rPr lang="en-US"/>
              <a:t>(); </a:t>
            </a: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rPr lang="en-US" err="1"/>
              <a:t>document.querySelectorAll</a:t>
            </a:r>
            <a:r>
              <a:rPr lang="en-US"/>
              <a:t>();</a:t>
            </a:r>
            <a:endParaRPr lang="en-US"/>
          </a:p>
          <a:p>
            <a:pPr marL="0" indent="0">
              <a:buNone/>
            </a:pPr>
            <a:r>
              <a:rPr lang="en-US"/>
              <a:t>To access a single element, you can use the </a:t>
            </a:r>
            <a:r>
              <a:rPr lang="en-US" err="1">
                <a:hlinkClick r:id="rId1"/>
              </a:rPr>
              <a:t>querySelector</a:t>
            </a:r>
            <a:r>
              <a:rPr lang="en-US">
                <a:hlinkClick r:id="rId1"/>
              </a:rPr>
              <a:t>()</a:t>
            </a:r>
            <a:r>
              <a:rPr lang="en-US"/>
              <a:t> method</a:t>
            </a:r>
            <a:endParaRPr lang="en-US"/>
          </a:p>
          <a:p>
            <a:pPr marL="0" indent="0">
              <a:buNone/>
            </a:pPr>
            <a:r>
              <a:rPr lang="en-US" err="1"/>
              <a:t>Eg</a:t>
            </a:r>
            <a:r>
              <a:rPr lang="en-US"/>
              <a:t>  &lt;div id="demo-query"&gt;Access me by query&lt;/div&gt;</a:t>
            </a:r>
            <a:endParaRPr lang="en-US"/>
          </a:p>
          <a:p>
            <a:pPr marL="0" indent="0">
              <a:buNone/>
            </a:pPr>
            <a:r>
              <a:rPr lang="en-US"/>
              <a:t>//Selector to an id is #</a:t>
            </a:r>
            <a:endParaRPr lang="en-US"/>
          </a:p>
          <a:p>
            <a:pPr marL="0" indent="0">
              <a:buNone/>
            </a:pPr>
            <a:r>
              <a:rPr lang="en-US" i="1"/>
              <a:t>const </a:t>
            </a:r>
            <a:r>
              <a:rPr lang="en-US" i="1" err="1"/>
              <a:t>demoQuery</a:t>
            </a:r>
            <a:r>
              <a:rPr lang="en-US" i="1"/>
              <a:t> = </a:t>
            </a:r>
            <a:r>
              <a:rPr lang="en-US" i="1" err="1"/>
              <a:t>document.querySelector</a:t>
            </a:r>
            <a:r>
              <a:rPr lang="en-US" i="1"/>
              <a:t>('#demo-query’);</a:t>
            </a:r>
            <a:endParaRPr lang="en-US" i="1"/>
          </a:p>
          <a:p>
            <a:pPr marL="0" indent="0">
              <a:buNone/>
            </a:pPr>
            <a:r>
              <a:rPr lang="en-US" err="1"/>
              <a:t>demoQuery.style.border</a:t>
            </a:r>
            <a:r>
              <a:rPr lang="en-US"/>
              <a:t> = '1px solid red';</a:t>
            </a:r>
            <a:endParaRPr lang="en-US" i="1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document</a:t>
            </a:r>
            <a:r>
              <a:rPr lang="en-US" err="1">
                <a:solidFill>
                  <a:srgbClr val="EFF2FB"/>
                </a:solidFill>
              </a:rPr>
              <a:t>.</a:t>
            </a:r>
            <a:r>
              <a:rPr lang="en-US" err="1">
                <a:solidFill>
                  <a:srgbClr val="FF4084"/>
                </a:solidFill>
              </a:rPr>
              <a:t>querySelectorAll</a:t>
            </a:r>
            <a:r>
              <a:rPr lang="en-US">
                <a:solidFill>
                  <a:srgbClr val="EFF2FB"/>
                </a:solidFill>
              </a:rPr>
              <a:t>();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4D5B7C"/>
                </a:solidFill>
                <a:latin typeface="Inter"/>
              </a:rPr>
              <a:t>The selector for a </a:t>
            </a:r>
            <a:r>
              <a:rPr lang="en-US"/>
              <a:t>class</a:t>
            </a:r>
            <a:r>
              <a:rPr lang="en-US">
                <a:solidFill>
                  <a:srgbClr val="4D5B7C"/>
                </a:solidFill>
                <a:latin typeface="Inter"/>
              </a:rPr>
              <a:t> attribute is a period or full stop (</a:t>
            </a:r>
            <a:r>
              <a:rPr lang="en-US"/>
              <a:t>.</a:t>
            </a:r>
            <a:r>
              <a:rPr lang="en-US">
                <a:solidFill>
                  <a:srgbClr val="4D5B7C"/>
                </a:solidFill>
                <a:latin typeface="Inter"/>
              </a:rPr>
              <a:t>)</a:t>
            </a:r>
            <a:endParaRPr lang="en-US">
              <a:solidFill>
                <a:srgbClr val="4D5B7C"/>
              </a:solidFill>
              <a:latin typeface="Inter"/>
            </a:endParaRPr>
          </a:p>
          <a:p>
            <a:r>
              <a:rPr lang="en-US" err="1">
                <a:solidFill>
                  <a:srgbClr val="4D5B7C"/>
                </a:solidFill>
                <a:latin typeface="Inter"/>
              </a:rPr>
              <a:t>Eg</a:t>
            </a:r>
            <a:r>
              <a:rPr lang="en-US">
                <a:solidFill>
                  <a:srgbClr val="4D5B7C"/>
                </a:solidFill>
                <a:latin typeface="Inter"/>
              </a:rPr>
              <a:t> 	</a:t>
            </a:r>
            <a:r>
              <a:rPr lang="en-US"/>
              <a:t>&lt;div class="demo-query-all"&gt;Access me by query all (1)&lt;/div&gt;</a:t>
            </a:r>
            <a:endParaRPr lang="en-US"/>
          </a:p>
          <a:p>
            <a:pPr marL="0" indent="0">
              <a:buNone/>
            </a:pPr>
            <a:r>
              <a:rPr lang="en-US"/>
              <a:t> 	&lt;div class="demo-query-all"&gt;Access me by query all (2)&lt;/div&gt;</a:t>
            </a:r>
            <a:endParaRPr lang="en-US"/>
          </a:p>
          <a:p>
            <a:pPr marL="0" indent="0">
              <a:buNone/>
            </a:pPr>
            <a:r>
              <a:rPr lang="en-US" b="1" i="1"/>
              <a:t>const </a:t>
            </a:r>
            <a:r>
              <a:rPr lang="en-US" b="1" i="1" err="1"/>
              <a:t>demoQueryAll</a:t>
            </a:r>
            <a:r>
              <a:rPr lang="en-US" b="1" i="1"/>
              <a:t> = </a:t>
            </a:r>
            <a:r>
              <a:rPr lang="en-US" b="1" i="1" err="1"/>
              <a:t>document.querySelectorAll</a:t>
            </a:r>
            <a:r>
              <a:rPr lang="en-US" b="1" i="1"/>
              <a:t>('.demo-query-all'); </a:t>
            </a:r>
            <a:endParaRPr lang="en-US" b="1" i="1"/>
          </a:p>
          <a:p>
            <a:pPr marL="0" indent="0">
              <a:buNone/>
            </a:pPr>
            <a:r>
              <a:rPr lang="en-US">
                <a:solidFill>
                  <a:srgbClr val="4D5B7C"/>
                </a:solidFill>
                <a:latin typeface="Inter"/>
              </a:rPr>
              <a:t>Using the </a:t>
            </a:r>
            <a:r>
              <a:rPr lang="en-US" err="1"/>
              <a:t>forEach</a:t>
            </a:r>
            <a:r>
              <a:rPr lang="en-US"/>
              <a:t>()</a:t>
            </a:r>
            <a:r>
              <a:rPr lang="en-US">
                <a:solidFill>
                  <a:srgbClr val="4D5B7C"/>
                </a:solidFill>
                <a:latin typeface="Inter"/>
              </a:rPr>
              <a:t> method, you can apply the color </a:t>
            </a:r>
            <a:r>
              <a:rPr lang="en-US"/>
              <a:t>green</a:t>
            </a:r>
            <a:r>
              <a:rPr lang="en-US">
                <a:solidFill>
                  <a:srgbClr val="4D5B7C"/>
                </a:solidFill>
                <a:latin typeface="Inter"/>
              </a:rPr>
              <a:t> to the </a:t>
            </a:r>
            <a:r>
              <a:rPr lang="en-US"/>
              <a:t>border</a:t>
            </a:r>
            <a:r>
              <a:rPr lang="en-US">
                <a:solidFill>
                  <a:srgbClr val="4D5B7C"/>
                </a:solidFill>
                <a:latin typeface="Inter"/>
              </a:rPr>
              <a:t> property of all matching elements.</a:t>
            </a:r>
            <a:br>
              <a:rPr lang="en-US"/>
            </a:br>
            <a:r>
              <a:rPr lang="en-US" b="1" i="1" err="1"/>
              <a:t>demoQueryAll.forEach</a:t>
            </a:r>
            <a:r>
              <a:rPr lang="en-US" b="1" i="1"/>
              <a:t>(</a:t>
            </a:r>
            <a:r>
              <a:rPr lang="en-US" b="1" i="1" err="1"/>
              <a:t>el</a:t>
            </a:r>
            <a:r>
              <a:rPr lang="en-US" b="1" i="1"/>
              <a:t> =&gt; { </a:t>
            </a:r>
            <a:endParaRPr lang="en-US" b="1" i="1"/>
          </a:p>
          <a:p>
            <a:pPr marL="0" indent="0">
              <a:buNone/>
            </a:pPr>
            <a:r>
              <a:rPr lang="en-US" b="1" i="1" err="1"/>
              <a:t>el.style.border</a:t>
            </a:r>
            <a:r>
              <a:rPr lang="en-US" b="1" i="1"/>
              <a:t> = '1px solid green'; </a:t>
            </a:r>
            <a:endParaRPr lang="en-US" b="1" i="1"/>
          </a:p>
          <a:p>
            <a:pPr marL="0" indent="0">
              <a:buNone/>
            </a:pPr>
            <a:r>
              <a:rPr lang="en-US" b="1" i="1"/>
              <a:t>});</a:t>
            </a:r>
            <a:endParaRPr lang="en-US" b="1" i="1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4D5B7C"/>
                </a:solidFill>
                <a:latin typeface="Epilogue"/>
              </a:rPr>
              <a:t>Modifying the DOM with Events</a:t>
            </a:r>
            <a:br>
              <a:rPr lang="en-US" b="1">
                <a:solidFill>
                  <a:srgbClr val="4D5B7C"/>
                </a:solidFill>
                <a:latin typeface="Epilogue"/>
              </a:rPr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600">
                <a:solidFill>
                  <a:srgbClr val="4D5B7C"/>
                </a:solidFill>
                <a:latin typeface="Inter"/>
              </a:rPr>
              <a:t>An </a:t>
            </a:r>
            <a:r>
              <a:rPr lang="en-US" sz="3600" b="1">
                <a:solidFill>
                  <a:srgbClr val="4D5B7C"/>
                </a:solidFill>
                <a:latin typeface="Inter"/>
              </a:rPr>
              <a:t>event</a:t>
            </a:r>
            <a:r>
              <a:rPr lang="en-US" sz="3600">
                <a:solidFill>
                  <a:srgbClr val="4D5B7C"/>
                </a:solidFill>
                <a:latin typeface="Inter"/>
              </a:rPr>
              <a:t> in JavaScript is an action the user has taken.</a:t>
            </a:r>
            <a:endParaRPr lang="en-US" sz="3600">
              <a:solidFill>
                <a:srgbClr val="4D5B7C"/>
              </a:solidFill>
              <a:latin typeface="Inter"/>
            </a:endParaRPr>
          </a:p>
          <a:p>
            <a:r>
              <a:rPr lang="en-US" sz="3600">
                <a:solidFill>
                  <a:srgbClr val="4D5B7C"/>
                </a:solidFill>
                <a:latin typeface="Inter"/>
              </a:rPr>
              <a:t>When the user 	</a:t>
            </a:r>
            <a:endParaRPr lang="en-US" sz="3600">
              <a:solidFill>
                <a:srgbClr val="4D5B7C"/>
              </a:solidFill>
              <a:latin typeface="Inter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600">
                <a:solidFill>
                  <a:srgbClr val="4D5B7C"/>
                </a:solidFill>
                <a:latin typeface="Inter"/>
              </a:rPr>
              <a:t>			submits a form</a:t>
            </a:r>
            <a:endParaRPr lang="en-US" sz="3600">
              <a:solidFill>
                <a:srgbClr val="4D5B7C"/>
              </a:solidFill>
              <a:latin typeface="Inter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600">
                <a:solidFill>
                  <a:srgbClr val="4D5B7C"/>
                </a:solidFill>
                <a:latin typeface="Inter"/>
              </a:rPr>
              <a:t>			clicks on an element</a:t>
            </a:r>
            <a:endParaRPr lang="en-US" sz="3600">
              <a:solidFill>
                <a:srgbClr val="4D5B7C"/>
              </a:solidFill>
              <a:latin typeface="Inter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600">
                <a:solidFill>
                  <a:srgbClr val="4D5B7C"/>
                </a:solidFill>
                <a:latin typeface="Inter"/>
              </a:rPr>
              <a:t>			presses a specific key on the keyboard </a:t>
            </a:r>
            <a:endParaRPr lang="en-US" sz="3600">
              <a:solidFill>
                <a:srgbClr val="4D5B7C"/>
              </a:solidFill>
              <a:latin typeface="Inter"/>
            </a:endParaRPr>
          </a:p>
          <a:p>
            <a:pPr marL="0" indent="0">
              <a:buNone/>
            </a:pPr>
            <a:r>
              <a:rPr lang="en-US" sz="3600">
                <a:solidFill>
                  <a:srgbClr val="4D5B7C"/>
                </a:solidFill>
                <a:latin typeface="Inter"/>
              </a:rPr>
              <a:t>these are all types of events. </a:t>
            </a:r>
            <a:endParaRPr lang="en-US" sz="3600">
              <a:solidFill>
                <a:srgbClr val="4D5B7C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EVENTS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b="1" u="sng">
                <a:solidFill>
                  <a:srgbClr val="4D5B7C"/>
                </a:solidFill>
                <a:latin typeface="Inter"/>
              </a:rPr>
              <a:t>MOUSE EVENTS</a:t>
            </a:r>
            <a:endParaRPr lang="en-US" sz="3600" b="1" u="sng">
              <a:solidFill>
                <a:srgbClr val="4D5B7C"/>
              </a:solidFill>
              <a:latin typeface="Inter"/>
            </a:endParaRPr>
          </a:p>
          <a:p>
            <a:r>
              <a:rPr lang="en-US" sz="3600">
                <a:solidFill>
                  <a:srgbClr val="4D5B7C"/>
                </a:solidFill>
                <a:latin typeface="Inter"/>
              </a:rPr>
              <a:t>Mouse events are among the most frequently used events</a:t>
            </a:r>
            <a:endParaRPr lang="en-US" sz="3600">
              <a:solidFill>
                <a:srgbClr val="4D5B7C"/>
              </a:solidFill>
              <a:latin typeface="Inter"/>
            </a:endParaRPr>
          </a:p>
          <a:p>
            <a:r>
              <a:rPr lang="en-US" sz="3600">
                <a:solidFill>
                  <a:srgbClr val="4D5B7C"/>
                </a:solidFill>
                <a:latin typeface="Inter"/>
              </a:rPr>
              <a:t>They refer to events that involve clicking buttons on the mouse or hovering and moving the mouse pointer. </a:t>
            </a:r>
            <a:endParaRPr lang="en-US" sz="3600">
              <a:solidFill>
                <a:srgbClr val="4D5B7C"/>
              </a:solidFill>
              <a:latin typeface="Inter"/>
            </a:endParaRPr>
          </a:p>
          <a:p>
            <a:r>
              <a:rPr lang="en-US" sz="3600">
                <a:solidFill>
                  <a:srgbClr val="4D5B7C"/>
                </a:solidFill>
                <a:latin typeface="Inter"/>
              </a:rPr>
              <a:t>These events also correspond to the equivalent action on a touch device.</a:t>
            </a:r>
            <a:endParaRPr lang="en-US" sz="3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CONTINUED…</a:t>
            </a:r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690688"/>
          <a:ext cx="10515600" cy="3990528"/>
        </p:xfrm>
        <a:graphic>
          <a:graphicData uri="http://schemas.openxmlformats.org/drawingml/2006/table">
            <a:tbl>
              <a:tblPr/>
              <a:tblGrid>
                <a:gridCol w="3705665"/>
                <a:gridCol w="6809935"/>
              </a:tblGrid>
              <a:tr h="525192"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</a:rPr>
                        <a:t>Event</a:t>
                      </a:r>
                      <a:endParaRPr lang="en-US" sz="28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</a:rPr>
                        <a:t>Description</a:t>
                      </a:r>
                      <a:endParaRPr lang="en-US" sz="28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19086"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</a:rPr>
                        <a:t>click</a:t>
                      </a:r>
                      <a:endParaRPr lang="en-US" sz="28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</a:rPr>
                        <a:t>Fires when the mouse is pressed and released on an element</a:t>
                      </a:r>
                      <a:endParaRPr lang="en-US" sz="28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5192">
                <a:tc>
                  <a:txBody>
                    <a:bodyPr/>
                    <a:lstStyle/>
                    <a:p>
                      <a:r>
                        <a:rPr lang="en-US" sz="2800" err="1">
                          <a:effectLst/>
                        </a:rPr>
                        <a:t>dblclick</a:t>
                      </a:r>
                      <a:endParaRPr lang="en-US" sz="28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</a:rPr>
                        <a:t>Fires when an element is clicked twice</a:t>
                      </a:r>
                      <a:endParaRPr lang="en-US" sz="28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5192"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</a:rPr>
                        <a:t>mouseenter</a:t>
                      </a:r>
                      <a:endParaRPr lang="en-US" sz="28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</a:rPr>
                        <a:t>Fires when a pointer enters an element</a:t>
                      </a:r>
                      <a:endParaRPr lang="en-US" sz="28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5192"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</a:rPr>
                        <a:t>mouseleave</a:t>
                      </a:r>
                      <a:endParaRPr lang="en-US" sz="28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</a:rPr>
                        <a:t>Fires when a pointer leaves an element</a:t>
                      </a:r>
                      <a:endParaRPr lang="en-US" sz="28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5192"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</a:rPr>
                        <a:t>mousemove</a:t>
                      </a:r>
                      <a:endParaRPr lang="en-US" sz="28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</a:rPr>
                        <a:t>Fires every time a pointer moves inside an element</a:t>
                      </a:r>
                      <a:endParaRPr lang="en-US" sz="28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EXAMPLE OF MOUSE EVENT 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1440180"/>
            <a:ext cx="11475720" cy="473678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/>
              <a:t>Create an html document </a:t>
            </a:r>
            <a:endParaRPr lang="en-US"/>
          </a:p>
          <a:p>
            <a:r>
              <a:rPr lang="en-US" dirty="0"/>
              <a:t>In it create a button </a:t>
            </a:r>
            <a:r>
              <a:rPr lang="en-US" dirty="0" err="1"/>
              <a:t>e.g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&lt;button id="</a:t>
            </a:r>
            <a:r>
              <a:rPr lang="en-US" dirty="0" err="1"/>
              <a:t>changeBackground</a:t>
            </a:r>
            <a:r>
              <a:rPr lang="en-US" dirty="0"/>
              <a:t>"&gt;Change Background Color&lt;/button&gt;</a:t>
            </a:r>
            <a:endParaRPr lang="en-US" dirty="0">
              <a:cs typeface="Calibri" panose="020F0502020204030204"/>
            </a:endParaRPr>
          </a:p>
          <a:p>
            <a:r>
              <a:rPr lang="en-US" dirty="0"/>
              <a:t>Create </a:t>
            </a:r>
            <a:r>
              <a:rPr lang="en-US" b="1" dirty="0"/>
              <a:t>scripts.js </a:t>
            </a:r>
            <a:r>
              <a:rPr lang="en-US" dirty="0"/>
              <a:t>and link it to your html</a:t>
            </a:r>
            <a:endParaRPr lang="en-US" dirty="0">
              <a:cs typeface="Calibri" panose="020F0502020204030204"/>
            </a:endParaRPr>
          </a:p>
          <a:p>
            <a:r>
              <a:rPr lang="en-US" dirty="0"/>
              <a:t>In </a:t>
            </a:r>
            <a:r>
              <a:rPr lang="en-US" dirty="0" err="1"/>
              <a:t>js</a:t>
            </a:r>
            <a:r>
              <a:rPr lang="en-US" dirty="0"/>
              <a:t> assign your button to a variable </a:t>
            </a:r>
            <a:r>
              <a:rPr lang="en-US" dirty="0" err="1"/>
              <a:t>i.e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let button = </a:t>
            </a:r>
            <a:r>
              <a:rPr lang="en-US" dirty="0" err="1"/>
              <a:t>document.getElementById</a:t>
            </a:r>
            <a:r>
              <a:rPr lang="en-US" dirty="0"/>
              <a:t>('</a:t>
            </a:r>
            <a:r>
              <a:rPr lang="en-US" dirty="0" err="1"/>
              <a:t>changeBackground</a:t>
            </a:r>
            <a:r>
              <a:rPr lang="en-US" dirty="0"/>
              <a:t>’);</a:t>
            </a: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4D5B7C"/>
                </a:solidFill>
                <a:latin typeface="Inter"/>
              </a:rPr>
              <a:t>Using the </a:t>
            </a:r>
            <a:r>
              <a:rPr lang="en-US" b="1" dirty="0" err="1"/>
              <a:t>addEventListener</a:t>
            </a:r>
            <a:r>
              <a:rPr lang="en-US" b="1" dirty="0"/>
              <a:t>()</a:t>
            </a:r>
            <a:r>
              <a:rPr lang="en-US" dirty="0">
                <a:solidFill>
                  <a:srgbClr val="4D5B7C"/>
                </a:solidFill>
                <a:latin typeface="Inter"/>
              </a:rPr>
              <a:t> method, we will tell the button to listen for a click, and perform a function once clicked.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button.addEventListener</a:t>
            </a:r>
            <a:r>
              <a:rPr lang="en-US" dirty="0"/>
              <a:t>('click', () =&gt; { </a:t>
            </a: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4D5B7C"/>
                </a:solidFill>
                <a:latin typeface="Inter"/>
              </a:rPr>
              <a:t>	</a:t>
            </a:r>
            <a:r>
              <a:rPr lang="en-US" dirty="0" err="1"/>
              <a:t>document.body.style.backgroundColor</a:t>
            </a:r>
            <a:r>
              <a:rPr lang="en-US" dirty="0"/>
              <a:t> = ‘green';</a:t>
            </a: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/>
              <a:t> });</a:t>
            </a:r>
            <a:endParaRPr lang="en-US" dirty="0"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4D5B7C"/>
                </a:solidFill>
                <a:latin typeface="Epilogue"/>
              </a:rPr>
              <a:t>Form Events</a:t>
            </a:r>
            <a:br>
              <a:rPr lang="en-US" b="1">
                <a:solidFill>
                  <a:srgbClr val="4D5B7C"/>
                </a:solidFill>
                <a:latin typeface="Epilogue"/>
              </a:rPr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Form events are actions that pertain to forms, such as </a:t>
            </a:r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</a:t>
            </a:r>
            <a:r>
              <a:rPr lang="en-US"/>
              <a:t> elements being selected or unselected, and forms being submitted.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200" y="3132614"/>
          <a:ext cx="10515600" cy="2804160"/>
        </p:xfrm>
        <a:graphic>
          <a:graphicData uri="http://schemas.openxmlformats.org/drawingml/2006/table">
            <a:tbl>
              <a:tblPr/>
              <a:tblGrid>
                <a:gridCol w="2225040"/>
                <a:gridCol w="8290560"/>
              </a:tblGrid>
              <a:tr h="0">
                <a:tc>
                  <a:txBody>
                    <a:bodyPr/>
                    <a:lstStyle/>
                    <a:p>
                      <a:r>
                        <a:rPr lang="en-US" sz="3200">
                          <a:effectLst/>
                        </a:rPr>
                        <a:t>Event</a:t>
                      </a:r>
                      <a:endParaRPr lang="en-US" sz="32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effectLst/>
                        </a:rPr>
                        <a:t>Description</a:t>
                      </a:r>
                      <a:endParaRPr lang="en-US" sz="32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3200">
                          <a:effectLst/>
                        </a:rPr>
                        <a:t>submit</a:t>
                      </a:r>
                      <a:endParaRPr lang="en-US" sz="32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effectLst/>
                        </a:rPr>
                        <a:t>Fires when a form is submitted</a:t>
                      </a:r>
                      <a:endParaRPr lang="en-US" sz="32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3200">
                          <a:effectLst/>
                        </a:rPr>
                        <a:t>focus</a:t>
                      </a:r>
                      <a:endParaRPr lang="en-US" sz="32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effectLst/>
                        </a:rPr>
                        <a:t>Fires when an element (such as an input) receives focus</a:t>
                      </a:r>
                      <a:endParaRPr lang="en-US" sz="32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3200">
                          <a:effectLst/>
                        </a:rPr>
                        <a:t>blur</a:t>
                      </a:r>
                      <a:endParaRPr lang="en-US" sz="32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effectLst/>
                        </a:rPr>
                        <a:t>Fires when an element loses focus</a:t>
                      </a:r>
                      <a:endParaRPr lang="en-US" sz="32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CONTINUED…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i="1">
                <a:solidFill>
                  <a:srgbClr val="4D5B7C"/>
                </a:solidFill>
                <a:latin typeface="Inter"/>
              </a:rPr>
              <a:t>Focus</a:t>
            </a:r>
            <a:r>
              <a:rPr lang="en-US" sz="3200">
                <a:solidFill>
                  <a:srgbClr val="4D5B7C"/>
                </a:solidFill>
                <a:latin typeface="Inter"/>
              </a:rPr>
              <a:t> is achieved when an element is selected, for example, through a mouse click or navigating to it via the </a:t>
            </a:r>
            <a:r>
              <a:rPr lang="en-US" sz="3200"/>
              <a:t>TAB</a:t>
            </a:r>
            <a:r>
              <a:rPr lang="en-US" sz="3200">
                <a:solidFill>
                  <a:srgbClr val="4D5B7C"/>
                </a:solidFill>
                <a:latin typeface="Inter"/>
              </a:rPr>
              <a:t> key.</a:t>
            </a:r>
            <a:endParaRPr lang="en-US" sz="3200">
              <a:solidFill>
                <a:srgbClr val="4D5B7C"/>
              </a:solidFill>
              <a:latin typeface="Inter"/>
            </a:endParaRPr>
          </a:p>
          <a:p>
            <a:r>
              <a:rPr lang="en-US" sz="3200">
                <a:solidFill>
                  <a:srgbClr val="4D5B7C"/>
                </a:solidFill>
                <a:latin typeface="Inter"/>
              </a:rPr>
              <a:t>JavaScript is often used to submit forms and send the values through to a backend language. </a:t>
            </a:r>
            <a:endParaRPr lang="en-US" sz="3200">
              <a:solidFill>
                <a:srgbClr val="4D5B7C"/>
              </a:solidFill>
              <a:latin typeface="Inter"/>
            </a:endParaRPr>
          </a:p>
          <a:p>
            <a:r>
              <a:rPr lang="en-US" sz="3200">
                <a:solidFill>
                  <a:srgbClr val="4D5B7C"/>
                </a:solidFill>
                <a:latin typeface="Inter"/>
              </a:rPr>
              <a:t>The advantage of using JavaScript to send forms is that it does not require a page reload to submit the form</a:t>
            </a:r>
            <a:endParaRPr lang="en-US" sz="3200">
              <a:solidFill>
                <a:srgbClr val="4D5B7C"/>
              </a:solidFill>
              <a:latin typeface="Inter"/>
            </a:endParaRPr>
          </a:p>
          <a:p>
            <a:r>
              <a:rPr lang="en-US" sz="3200">
                <a:solidFill>
                  <a:srgbClr val="4D5B7C"/>
                </a:solidFill>
                <a:latin typeface="Inter"/>
              </a:rPr>
              <a:t>JavaScript can be used to validate required input fields.</a:t>
            </a:r>
            <a:endParaRPr lang="en-US" sz="3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FORM EVENT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6612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>
                <a:latin typeface="Consolas" panose="020B0609020204030204" pitchFamily="49" charset="0"/>
              </a:rPr>
              <a:t>&lt;form </a:t>
            </a:r>
            <a:r>
              <a:rPr lang="en-US" sz="3200" err="1">
                <a:latin typeface="Consolas" panose="020B0609020204030204" pitchFamily="49" charset="0"/>
              </a:rPr>
              <a:t>onsubmit</a:t>
            </a:r>
            <a:r>
              <a:rPr lang="en-US" sz="320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3200">
                <a:latin typeface="Consolas" panose="020B0609020204030204" pitchFamily="49" charset="0"/>
              </a:rPr>
              <a:t>"alert('submit!');return false"&gt;</a:t>
            </a:r>
            <a:r>
              <a:rPr lang="en-US" sz="3200">
                <a:solidFill>
                  <a:srgbClr val="313130"/>
                </a:solidFill>
                <a:latin typeface="Consolas" panose="020B0609020204030204" pitchFamily="49" charset="0"/>
              </a:rPr>
              <a:t> 	First: Enter in the input field </a:t>
            </a:r>
            <a:endParaRPr lang="en-US" sz="3200">
              <a:solidFill>
                <a:srgbClr val="31313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200">
                <a:latin typeface="Consolas" panose="020B0609020204030204" pitchFamily="49" charset="0"/>
              </a:rPr>
              <a:t>	&lt;input type</a:t>
            </a:r>
            <a:r>
              <a:rPr lang="en-US" sz="320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3200">
                <a:latin typeface="Consolas" panose="020B0609020204030204" pitchFamily="49" charset="0"/>
              </a:rPr>
              <a:t>"text" value</a:t>
            </a:r>
            <a:r>
              <a:rPr lang="en-US" sz="320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3200">
                <a:latin typeface="Consolas" panose="020B0609020204030204" pitchFamily="49" charset="0"/>
              </a:rPr>
              <a:t>"text"&gt;&lt;</a:t>
            </a:r>
            <a:r>
              <a:rPr lang="en-US" sz="3200" err="1">
                <a:latin typeface="Consolas" panose="020B0609020204030204" pitchFamily="49" charset="0"/>
              </a:rPr>
              <a:t>br</a:t>
            </a:r>
            <a:r>
              <a:rPr lang="en-US" sz="3200">
                <a:latin typeface="Consolas" panose="020B0609020204030204" pitchFamily="49" charset="0"/>
              </a:rPr>
              <a:t>&gt;</a:t>
            </a:r>
            <a:r>
              <a:rPr lang="en-US" sz="3200">
                <a:solidFill>
                  <a:srgbClr val="313130"/>
                </a:solidFill>
                <a:latin typeface="Consolas" panose="020B0609020204030204" pitchFamily="49" charset="0"/>
              </a:rPr>
              <a:t> </a:t>
            </a:r>
            <a:endParaRPr lang="en-US" sz="3200">
              <a:solidFill>
                <a:srgbClr val="31313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200">
                <a:solidFill>
                  <a:srgbClr val="313130"/>
                </a:solidFill>
                <a:latin typeface="Consolas" panose="020B0609020204030204" pitchFamily="49" charset="0"/>
              </a:rPr>
              <a:t>	Second: Click "submit": </a:t>
            </a:r>
            <a:endParaRPr lang="en-US" sz="3200">
              <a:solidFill>
                <a:srgbClr val="31313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200">
                <a:latin typeface="Consolas" panose="020B0609020204030204" pitchFamily="49" charset="0"/>
              </a:rPr>
              <a:t>	&lt;input type</a:t>
            </a:r>
            <a:r>
              <a:rPr lang="en-US" sz="320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3200">
                <a:latin typeface="Consolas" panose="020B0609020204030204" pitchFamily="49" charset="0"/>
              </a:rPr>
              <a:t>"submit" value</a:t>
            </a:r>
            <a:r>
              <a:rPr lang="en-US" sz="320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3200">
                <a:latin typeface="Consolas" panose="020B0609020204030204" pitchFamily="49" charset="0"/>
              </a:rPr>
              <a:t>"Submit"&gt;</a:t>
            </a:r>
            <a:r>
              <a:rPr lang="en-US" sz="3200">
                <a:solidFill>
                  <a:srgbClr val="313130"/>
                </a:solidFill>
                <a:latin typeface="Consolas" panose="020B0609020204030204" pitchFamily="49" charset="0"/>
              </a:rPr>
              <a:t> </a:t>
            </a:r>
            <a:endParaRPr lang="en-US" sz="3200">
              <a:solidFill>
                <a:srgbClr val="31313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200">
                <a:latin typeface="Consolas" panose="020B0609020204030204" pitchFamily="49" charset="0"/>
              </a:rPr>
              <a:t>&lt;/form&gt;</a:t>
            </a:r>
            <a:endParaRPr lang="en-US" sz="320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3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2 ON FOCUS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/>
              <a:t>&lt;!doctype html&gt;</a:t>
            </a:r>
            <a:endParaRPr lang="en-US"/>
          </a:p>
          <a:p>
            <a:pPr marL="0" indent="0">
              <a:buNone/>
            </a:pPr>
            <a:r>
              <a:rPr lang="en-US"/>
              <a:t>&lt;html&gt;</a:t>
            </a:r>
            <a:endParaRPr lang="en-US"/>
          </a:p>
          <a:p>
            <a:pPr marL="0" indent="0">
              <a:buNone/>
            </a:pPr>
            <a:r>
              <a:rPr lang="en-US"/>
              <a:t>&lt;body&gt;</a:t>
            </a:r>
            <a:endParaRPr lang="en-US"/>
          </a:p>
          <a:p>
            <a:pPr marL="0" indent="0">
              <a:buNone/>
            </a:pPr>
            <a:r>
              <a:rPr lang="en-US"/>
              <a:t>&lt;p&gt;Click on the input field to set focus.&lt;/p&gt;</a:t>
            </a:r>
            <a:endParaRPr lang="en-US"/>
          </a:p>
          <a:p>
            <a:pPr marL="0" indent="0">
              <a:buNone/>
            </a:pPr>
            <a:r>
              <a:rPr lang="en-US"/>
              <a:t>    &lt;input type="text" id="my-input"&gt;</a:t>
            </a:r>
            <a:endParaRPr lang="en-US"/>
          </a:p>
          <a:p>
            <a:pPr marL="0" indent="0">
              <a:buNone/>
            </a:pPr>
            <a:r>
              <a:rPr lang="en-US"/>
              <a:t>    &lt;script&gt;</a:t>
            </a:r>
            <a:endParaRPr lang="en-US"/>
          </a:p>
          <a:p>
            <a:pPr marL="0" indent="0">
              <a:buNone/>
            </a:pPr>
            <a:r>
              <a:rPr lang="en-US"/>
              <a:t>      var </a:t>
            </a:r>
            <a:r>
              <a:rPr lang="en-US" err="1"/>
              <a:t>myInput</a:t>
            </a:r>
            <a:r>
              <a:rPr lang="en-US"/>
              <a:t> = </a:t>
            </a:r>
            <a:r>
              <a:rPr lang="en-US" err="1"/>
              <a:t>document.querySelector</a:t>
            </a:r>
            <a:r>
              <a:rPr lang="en-US"/>
              <a:t>('#my-input');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/>
              <a:t>myInput.addEventListener</a:t>
            </a:r>
            <a:r>
              <a:rPr lang="en-US" dirty="0"/>
              <a:t>('focus', function()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console.log(You focused on me.');</a:t>
            </a: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/>
              <a:t>      });</a:t>
            </a: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/>
              <a:t>    &lt;/script&gt;</a:t>
            </a: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/>
              <a:t>  &lt;/body&gt;</a:t>
            </a: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/>
              <a:t>&lt;/html&gt;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4D5B7C"/>
                </a:solidFill>
                <a:latin typeface="Epilogue"/>
              </a:rPr>
              <a:t>Keyboard Events</a:t>
            </a:r>
            <a:br>
              <a:rPr lang="en-US" b="1">
                <a:solidFill>
                  <a:srgbClr val="4D5B7C"/>
                </a:solidFill>
                <a:latin typeface="Epilogue"/>
              </a:rPr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solidFill>
                  <a:srgbClr val="4D5B7C"/>
                </a:solidFill>
                <a:latin typeface="Inter"/>
              </a:rPr>
              <a:t>Keyboard events are used for handling keyboard actions, such as pressing a key, lifting a key, and holding down a key.</a:t>
            </a:r>
            <a:endParaRPr lang="en-US">
              <a:solidFill>
                <a:srgbClr val="4D5B7C"/>
              </a:solidFill>
              <a:latin typeface="Inter"/>
            </a:endParaRPr>
          </a:p>
          <a:p>
            <a:pPr marL="0" indent="0">
              <a:buNone/>
            </a:pPr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200" y="3269774"/>
          <a:ext cx="10515600" cy="2560320"/>
        </p:xfrm>
        <a:graphic>
          <a:graphicData uri="http://schemas.openxmlformats.org/drawingml/2006/table">
            <a:tbl>
              <a:tblPr/>
              <a:tblGrid>
                <a:gridCol w="2362200"/>
                <a:gridCol w="81534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3600" b="1" u="sng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Event</a:t>
                      </a:r>
                      <a:endParaRPr lang="en-US" sz="3600" b="1" u="sng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b="1" u="sng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Description</a:t>
                      </a:r>
                      <a:endParaRPr lang="en-US" sz="3600" b="1" u="sng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3600" err="1">
                          <a:effectLst/>
                        </a:rPr>
                        <a:t>keydown</a:t>
                      </a:r>
                      <a:endParaRPr lang="en-US" sz="36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>
                          <a:effectLst/>
                        </a:rPr>
                        <a:t>Fires once when a key is pressed</a:t>
                      </a:r>
                      <a:endParaRPr lang="en-US" sz="36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3600" err="1">
                          <a:effectLst/>
                        </a:rPr>
                        <a:t>keyup</a:t>
                      </a:r>
                      <a:endParaRPr lang="en-US" sz="36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>
                          <a:effectLst/>
                        </a:rPr>
                        <a:t>Fires once when a key is released</a:t>
                      </a:r>
                      <a:endParaRPr lang="en-US" sz="36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3600">
                          <a:effectLst/>
                        </a:rPr>
                        <a:t>keypress</a:t>
                      </a:r>
                      <a:endParaRPr lang="en-US" sz="36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>
                          <a:effectLst/>
                        </a:rPr>
                        <a:t>Fires continuously while a key is pressed</a:t>
                      </a:r>
                      <a:endParaRPr lang="en-US" sz="36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DIFFERENCE BETWEEN THE EVENTS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err="1"/>
              <a:t>keydown</a:t>
            </a:r>
            <a:r>
              <a:rPr lang="en-US" sz="4400">
                <a:solidFill>
                  <a:srgbClr val="4D5B7C"/>
                </a:solidFill>
                <a:latin typeface="Inter"/>
              </a:rPr>
              <a:t> and </a:t>
            </a:r>
            <a:r>
              <a:rPr lang="en-US" sz="4400"/>
              <a:t>keypress</a:t>
            </a:r>
            <a:r>
              <a:rPr lang="en-US" sz="4400">
                <a:solidFill>
                  <a:srgbClr val="4D5B7C"/>
                </a:solidFill>
                <a:latin typeface="Inter"/>
              </a:rPr>
              <a:t> events do not access all the exact same keys</a:t>
            </a:r>
            <a:endParaRPr lang="en-US" sz="4400">
              <a:solidFill>
                <a:srgbClr val="4D5B7C"/>
              </a:solidFill>
              <a:latin typeface="Inter"/>
            </a:endParaRPr>
          </a:p>
          <a:p>
            <a:r>
              <a:rPr lang="en-US" sz="4400" err="1"/>
              <a:t>keydown</a:t>
            </a:r>
            <a:r>
              <a:rPr lang="en-US" sz="4400">
                <a:solidFill>
                  <a:srgbClr val="4D5B7C"/>
                </a:solidFill>
                <a:latin typeface="Inter"/>
              </a:rPr>
              <a:t> will acknowledge every key that is pressed</a:t>
            </a:r>
            <a:endParaRPr lang="en-US" sz="4400">
              <a:solidFill>
                <a:srgbClr val="4D5B7C"/>
              </a:solidFill>
              <a:latin typeface="Inter"/>
            </a:endParaRPr>
          </a:p>
          <a:p>
            <a:r>
              <a:rPr lang="en-US" sz="4400"/>
              <a:t>keypress</a:t>
            </a:r>
            <a:r>
              <a:rPr lang="en-US" sz="4400">
                <a:solidFill>
                  <a:srgbClr val="4D5B7C"/>
                </a:solidFill>
                <a:latin typeface="Inter"/>
              </a:rPr>
              <a:t> will omit keys that do not produce a character, such as </a:t>
            </a:r>
            <a:r>
              <a:rPr lang="en-US" sz="4400"/>
              <a:t>SHIFT</a:t>
            </a:r>
            <a:r>
              <a:rPr lang="en-US" sz="4400">
                <a:solidFill>
                  <a:srgbClr val="4D5B7C"/>
                </a:solidFill>
                <a:latin typeface="Inter"/>
              </a:rPr>
              <a:t>, </a:t>
            </a:r>
            <a:r>
              <a:rPr lang="en-US" sz="4400"/>
              <a:t>ALT</a:t>
            </a:r>
            <a:r>
              <a:rPr lang="en-US" sz="4400">
                <a:solidFill>
                  <a:srgbClr val="4D5B7C"/>
                </a:solidFill>
                <a:latin typeface="Inter"/>
              </a:rPr>
              <a:t>, or </a:t>
            </a:r>
            <a:r>
              <a:rPr lang="en-US" sz="4400"/>
              <a:t>DELETE</a:t>
            </a:r>
            <a:r>
              <a:rPr lang="en-US" sz="4400">
                <a:solidFill>
                  <a:srgbClr val="4D5B7C"/>
                </a:solidFill>
                <a:latin typeface="Inter"/>
              </a:rPr>
              <a:t>.</a:t>
            </a:r>
            <a:endParaRPr lang="en-US" sz="4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365125"/>
            <a:ext cx="10873740" cy="1325563"/>
          </a:xfrm>
        </p:spPr>
        <p:txBody>
          <a:bodyPr/>
          <a:lstStyle/>
          <a:p>
            <a:r>
              <a:rPr lang="en-US"/>
              <a:t>PROPERTIES FOR ACCESSING INDIVIDUAL KEYS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8740"/>
            <a:ext cx="10515600" cy="482822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4D5B7C"/>
                </a:solidFill>
                <a:latin typeface="Inter"/>
              </a:rPr>
              <a:t>Two properties that pertain to keyboard objects include </a:t>
            </a:r>
            <a:r>
              <a:rPr lang="en-US" sz="4000" b="1"/>
              <a:t>key</a:t>
            </a:r>
            <a:r>
              <a:rPr lang="en-US" sz="4000">
                <a:solidFill>
                  <a:srgbClr val="4D5B7C"/>
                </a:solidFill>
                <a:latin typeface="Inter"/>
              </a:rPr>
              <a:t> and </a:t>
            </a:r>
            <a:r>
              <a:rPr lang="en-US" sz="4000" b="1"/>
              <a:t>code</a:t>
            </a:r>
            <a:r>
              <a:rPr lang="en-US" sz="4000" b="1">
                <a:solidFill>
                  <a:srgbClr val="4D5B7C"/>
                </a:solidFill>
                <a:latin typeface="Inter"/>
              </a:rPr>
              <a:t>.</a:t>
            </a:r>
            <a:endParaRPr lang="en-US" sz="4000" b="1">
              <a:solidFill>
                <a:srgbClr val="4D5B7C"/>
              </a:solidFill>
              <a:latin typeface="Inter"/>
            </a:endParaRPr>
          </a:p>
          <a:p>
            <a:r>
              <a:rPr lang="en-US" sz="4000" b="1" err="1">
                <a:solidFill>
                  <a:srgbClr val="4D5B7C"/>
                </a:solidFill>
                <a:latin typeface="Inter"/>
              </a:rPr>
              <a:t>Eg</a:t>
            </a:r>
            <a:r>
              <a:rPr lang="en-US" sz="4000" b="1">
                <a:solidFill>
                  <a:srgbClr val="4D5B7C"/>
                </a:solidFill>
                <a:latin typeface="Inter"/>
              </a:rPr>
              <a:t> </a:t>
            </a:r>
            <a:r>
              <a:rPr lang="en-US" sz="4000">
                <a:solidFill>
                  <a:srgbClr val="4D5B7C"/>
                </a:solidFill>
                <a:latin typeface="Inter"/>
              </a:rPr>
              <a:t>if the user presses the letter </a:t>
            </a:r>
            <a:r>
              <a:rPr lang="en-US" sz="4000"/>
              <a:t>a</a:t>
            </a:r>
            <a:r>
              <a:rPr lang="en-US" sz="4000">
                <a:solidFill>
                  <a:srgbClr val="4D5B7C"/>
                </a:solidFill>
                <a:latin typeface="Inter"/>
              </a:rPr>
              <a:t> key on their keyboard, the following properties pertaining to that key will surface:</a:t>
            </a:r>
            <a:endParaRPr lang="en-US" sz="4000">
              <a:solidFill>
                <a:srgbClr val="4D5B7C"/>
              </a:solidFill>
              <a:latin typeface="Inter"/>
            </a:endParaRPr>
          </a:p>
          <a:p>
            <a:pPr marL="0" indent="0">
              <a:buNone/>
            </a:pPr>
            <a:endParaRPr lang="en-US" sz="4000" b="1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200" y="4412774"/>
          <a:ext cx="10515600" cy="1737360"/>
        </p:xfrm>
        <a:graphic>
          <a:graphicData uri="http://schemas.openxmlformats.org/drawingml/2006/table">
            <a:tbl>
              <a:tblPr/>
              <a:tblGrid>
                <a:gridCol w="1699260"/>
                <a:gridCol w="5006340"/>
                <a:gridCol w="3810000"/>
              </a:tblGrid>
              <a:tr h="441854">
                <a:tc>
                  <a:txBody>
                    <a:bodyPr/>
                    <a:lstStyle/>
                    <a:p>
                      <a:r>
                        <a:rPr lang="en-US" sz="2400" b="1">
                          <a:effectLst/>
                        </a:rPr>
                        <a:t>PROPERTY</a:t>
                      </a:r>
                      <a:endParaRPr lang="en-US" sz="2400" b="1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>
                          <a:effectLst/>
                        </a:rPr>
                        <a:t>DESCRIPTION</a:t>
                      </a:r>
                      <a:endParaRPr lang="en-US" sz="2400" b="1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>
                          <a:effectLst/>
                        </a:rPr>
                        <a:t>EXAMPLE</a:t>
                      </a:r>
                      <a:endParaRPr lang="en-US" sz="2400" b="1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1854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key</a:t>
                      </a:r>
                      <a:endParaRPr lang="en-US" sz="24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Represents the character name</a:t>
                      </a:r>
                      <a:endParaRPr lang="en-US" sz="24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a</a:t>
                      </a:r>
                      <a:endParaRPr lang="en-US" sz="24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1854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code</a:t>
                      </a:r>
                      <a:endParaRPr lang="en-US" sz="24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Represents the physical key being pressed</a:t>
                      </a:r>
                      <a:endParaRPr lang="en-US" sz="24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err="1">
                          <a:effectLst/>
                        </a:rPr>
                        <a:t>KeyA</a:t>
                      </a:r>
                      <a:endParaRPr lang="en-US" sz="24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CONTINUED…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>
                <a:solidFill>
                  <a:srgbClr val="4D5B7C"/>
                </a:solidFill>
                <a:latin typeface="Inter"/>
              </a:rPr>
              <a:t>The </a:t>
            </a:r>
            <a:r>
              <a:rPr lang="en-US" sz="3600"/>
              <a:t>key</a:t>
            </a:r>
            <a:r>
              <a:rPr lang="en-US" sz="3600">
                <a:solidFill>
                  <a:srgbClr val="4D5B7C"/>
                </a:solidFill>
                <a:latin typeface="Inter"/>
              </a:rPr>
              <a:t> property is the name of the character, which can change</a:t>
            </a:r>
            <a:endParaRPr lang="en-US" sz="3600">
              <a:solidFill>
                <a:srgbClr val="4D5B7C"/>
              </a:solidFill>
              <a:latin typeface="Inter"/>
            </a:endParaRPr>
          </a:p>
          <a:p>
            <a:r>
              <a:rPr lang="en-US" sz="3600" err="1">
                <a:solidFill>
                  <a:srgbClr val="4D5B7C"/>
                </a:solidFill>
                <a:latin typeface="Inter"/>
              </a:rPr>
              <a:t>E.g</a:t>
            </a:r>
            <a:r>
              <a:rPr lang="en-US" sz="3600">
                <a:solidFill>
                  <a:srgbClr val="4D5B7C"/>
                </a:solidFill>
                <a:latin typeface="Inter"/>
              </a:rPr>
              <a:t> pressing </a:t>
            </a:r>
            <a:r>
              <a:rPr lang="en-US" sz="3600"/>
              <a:t>a</a:t>
            </a:r>
            <a:r>
              <a:rPr lang="en-US" sz="3600">
                <a:solidFill>
                  <a:srgbClr val="4D5B7C"/>
                </a:solidFill>
                <a:latin typeface="Inter"/>
              </a:rPr>
              <a:t> with </a:t>
            </a:r>
            <a:r>
              <a:rPr lang="en-US" sz="3600"/>
              <a:t>SHIFT</a:t>
            </a:r>
            <a:r>
              <a:rPr lang="en-US" sz="3600">
                <a:solidFill>
                  <a:srgbClr val="4D5B7C"/>
                </a:solidFill>
                <a:latin typeface="Inter"/>
              </a:rPr>
              <a:t> would result in a </a:t>
            </a:r>
            <a:r>
              <a:rPr lang="en-US" sz="3600"/>
              <a:t>key</a:t>
            </a:r>
            <a:r>
              <a:rPr lang="en-US" sz="3600">
                <a:solidFill>
                  <a:srgbClr val="4D5B7C"/>
                </a:solidFill>
                <a:latin typeface="Inter"/>
              </a:rPr>
              <a:t> of </a:t>
            </a:r>
            <a:r>
              <a:rPr lang="en-US" sz="3600"/>
              <a:t>A</a:t>
            </a:r>
            <a:endParaRPr lang="en-US" sz="3600"/>
          </a:p>
          <a:p>
            <a:endParaRPr lang="en-US" sz="36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KEY EVENTS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solidFill>
                  <a:srgbClr val="4D5B7C"/>
                </a:solidFill>
                <a:latin typeface="Inter"/>
              </a:rPr>
              <a:t> </a:t>
            </a:r>
            <a:r>
              <a:rPr lang="en-US" sz="3600">
                <a:solidFill>
                  <a:srgbClr val="4D5B7C"/>
                </a:solidFill>
                <a:latin typeface="Inter"/>
              </a:rPr>
              <a:t>Create a basic HTML file with </a:t>
            </a:r>
            <a:r>
              <a:rPr lang="en-US" sz="3600"/>
              <a:t>&lt;p&gt;</a:t>
            </a:r>
            <a:r>
              <a:rPr lang="en-US" sz="3600">
                <a:solidFill>
                  <a:srgbClr val="4D5B7C"/>
                </a:solidFill>
                <a:latin typeface="Inter"/>
              </a:rPr>
              <a:t> tags and load it into a browser.</a:t>
            </a:r>
            <a:endParaRPr lang="en-US" sz="3600">
              <a:solidFill>
                <a:srgbClr val="4D5B7C"/>
              </a:solidFill>
              <a:latin typeface="Inter"/>
            </a:endParaRPr>
          </a:p>
          <a:p>
            <a:r>
              <a:rPr lang="en-US" sz="3600" err="1">
                <a:solidFill>
                  <a:srgbClr val="4D5B7C"/>
                </a:solidFill>
                <a:latin typeface="Inter"/>
              </a:rPr>
              <a:t>i.e</a:t>
            </a:r>
            <a:r>
              <a:rPr lang="en-US" sz="3600">
                <a:solidFill>
                  <a:srgbClr val="4D5B7C"/>
                </a:solidFill>
                <a:latin typeface="Inter"/>
              </a:rPr>
              <a:t> </a:t>
            </a:r>
            <a:endParaRPr lang="en-US" sz="3600">
              <a:solidFill>
                <a:srgbClr val="4D5B7C"/>
              </a:solidFill>
              <a:latin typeface="Inter"/>
            </a:endParaRPr>
          </a:p>
          <a:p>
            <a:pPr marL="0" indent="0">
              <a:buNone/>
            </a:pPr>
            <a:r>
              <a:rPr lang="en-US" sz="3600">
                <a:solidFill>
                  <a:srgbClr val="4D5B7C"/>
                </a:solidFill>
                <a:latin typeface="Inter"/>
              </a:rPr>
              <a:t>	&lt;body&gt;</a:t>
            </a:r>
            <a:endParaRPr lang="en-US" sz="3600">
              <a:solidFill>
                <a:srgbClr val="4D5B7C"/>
              </a:solidFill>
              <a:latin typeface="Inter"/>
            </a:endParaRPr>
          </a:p>
          <a:p>
            <a:pPr marL="0" indent="0">
              <a:buNone/>
            </a:pPr>
            <a:r>
              <a:rPr lang="en-US" sz="3600">
                <a:solidFill>
                  <a:srgbClr val="4D5B7C"/>
                </a:solidFill>
                <a:latin typeface="Inter"/>
              </a:rPr>
              <a:t>		&lt;p&gt; &lt;/p&gt;</a:t>
            </a:r>
            <a:endParaRPr lang="en-US" sz="3600">
              <a:solidFill>
                <a:srgbClr val="4D5B7C"/>
              </a:solidFill>
              <a:latin typeface="Inter"/>
            </a:endParaRPr>
          </a:p>
          <a:p>
            <a:pPr marL="0" indent="0">
              <a:buNone/>
            </a:pPr>
            <a:r>
              <a:rPr lang="en-US" sz="3600">
                <a:solidFill>
                  <a:srgbClr val="4D5B7C"/>
                </a:solidFill>
                <a:latin typeface="Inter"/>
              </a:rPr>
              <a:t>	&lt;/body&gt;</a:t>
            </a:r>
            <a:endParaRPr lang="en-US" sz="3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 A JS FILE REFERENCING TO THE SELECTOR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err="1"/>
              <a:t>document.addEventListener</a:t>
            </a:r>
            <a:r>
              <a:rPr lang="en-US"/>
              <a:t>('</a:t>
            </a:r>
            <a:r>
              <a:rPr lang="en-US" err="1"/>
              <a:t>keydown</a:t>
            </a:r>
            <a:r>
              <a:rPr lang="en-US"/>
              <a:t>', event =&gt; { </a:t>
            </a:r>
            <a:endParaRPr lang="en-US"/>
          </a:p>
          <a:p>
            <a:pPr marL="0" indent="0">
              <a:buNone/>
            </a:pPr>
            <a:r>
              <a:rPr lang="en-US"/>
              <a:t>	var element = </a:t>
            </a:r>
            <a:r>
              <a:rPr lang="en-US" err="1"/>
              <a:t>document.querySelector</a:t>
            </a:r>
            <a:r>
              <a:rPr lang="en-US"/>
              <a:t>('p’); </a:t>
            </a:r>
            <a:endParaRPr lang="en-US"/>
          </a:p>
          <a:p>
            <a:pPr marL="0" indent="0">
              <a:buNone/>
            </a:pPr>
            <a:r>
              <a:rPr lang="en-US"/>
              <a:t>// Set variables for </a:t>
            </a:r>
            <a:r>
              <a:rPr lang="en-US" err="1"/>
              <a:t>keydown</a:t>
            </a:r>
            <a:r>
              <a:rPr lang="en-US"/>
              <a:t> codes </a:t>
            </a:r>
            <a:endParaRPr lang="en-US"/>
          </a:p>
          <a:p>
            <a:pPr marL="0" indent="0">
              <a:buNone/>
            </a:pPr>
            <a:r>
              <a:rPr lang="en-US"/>
              <a:t>var a = '</a:t>
            </a:r>
            <a:r>
              <a:rPr lang="en-US" err="1"/>
              <a:t>KeyA</a:t>
            </a:r>
            <a:r>
              <a:rPr lang="en-US"/>
              <a:t>’; </a:t>
            </a:r>
            <a:endParaRPr lang="en-US"/>
          </a:p>
          <a:p>
            <a:pPr marL="0" indent="0">
              <a:buNone/>
            </a:pPr>
            <a:r>
              <a:rPr lang="en-US"/>
              <a:t>var s = '</a:t>
            </a:r>
            <a:r>
              <a:rPr lang="en-US" err="1"/>
              <a:t>KeyS</a:t>
            </a:r>
            <a:r>
              <a:rPr lang="en-US"/>
              <a:t>’; </a:t>
            </a:r>
            <a:endParaRPr lang="en-US"/>
          </a:p>
          <a:p>
            <a:pPr marL="0" indent="0">
              <a:buNone/>
            </a:pPr>
            <a:r>
              <a:rPr lang="en-US"/>
              <a:t>var d = '</a:t>
            </a:r>
            <a:r>
              <a:rPr lang="en-US" err="1"/>
              <a:t>KeyD</a:t>
            </a:r>
            <a:r>
              <a:rPr lang="en-US"/>
              <a:t>’; </a:t>
            </a:r>
            <a:endParaRPr lang="en-US"/>
          </a:p>
          <a:p>
            <a:pPr marL="0" indent="0">
              <a:buNone/>
            </a:pPr>
            <a:r>
              <a:rPr lang="en-US"/>
              <a:t>var w = '</a:t>
            </a:r>
            <a:r>
              <a:rPr lang="en-US" err="1"/>
              <a:t>KeyW</a:t>
            </a:r>
            <a:r>
              <a:rPr lang="en-US"/>
              <a:t>’; </a:t>
            </a:r>
            <a:br>
              <a:rPr lang="en-US"/>
            </a:br>
            <a:endParaRPr lang="en-US"/>
          </a:p>
          <a:p>
            <a:pPr marL="0" indent="0">
              <a:buNone/>
            </a:pPr>
            <a:r>
              <a:rPr lang="en-US"/>
              <a:t>//CONTINUED NEXT SLIDE</a:t>
            </a:r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CONTINUED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// Set a direction for each code </a:t>
            </a:r>
            <a:endParaRPr lang="en-US"/>
          </a:p>
          <a:p>
            <a:pPr marL="0" indent="0">
              <a:buNone/>
            </a:pPr>
            <a:r>
              <a:rPr lang="en-US"/>
              <a:t>switch (</a:t>
            </a:r>
            <a:r>
              <a:rPr lang="en-US" err="1"/>
              <a:t>event.code</a:t>
            </a:r>
            <a:r>
              <a:rPr lang="en-US"/>
              <a:t>) { </a:t>
            </a:r>
            <a:endParaRPr lang="en-US"/>
          </a:p>
          <a:p>
            <a:pPr marL="0" indent="0">
              <a:buNone/>
            </a:pPr>
            <a:r>
              <a:rPr lang="en-US"/>
              <a:t>case a: </a:t>
            </a: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rPr lang="en-US" err="1"/>
              <a:t>element.textContent</a:t>
            </a:r>
            <a:r>
              <a:rPr lang="en-US"/>
              <a:t> = 'Left’;</a:t>
            </a:r>
            <a:endParaRPr lang="en-US"/>
          </a:p>
          <a:p>
            <a:pPr marL="0" indent="0">
              <a:buNone/>
            </a:pPr>
            <a:r>
              <a:rPr lang="en-US"/>
              <a:t>	break; </a:t>
            </a:r>
            <a:endParaRPr lang="en-US"/>
          </a:p>
          <a:p>
            <a:pPr marL="0" indent="0">
              <a:buNone/>
            </a:pPr>
            <a:r>
              <a:rPr lang="en-US"/>
              <a:t>case s:</a:t>
            </a: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rPr lang="en-US" err="1"/>
              <a:t>element.textContent</a:t>
            </a:r>
            <a:r>
              <a:rPr lang="en-US"/>
              <a:t> = 'Down’; </a:t>
            </a:r>
            <a:endParaRPr lang="en-US"/>
          </a:p>
          <a:p>
            <a:pPr marL="0" indent="0">
              <a:buNone/>
            </a:pPr>
            <a:r>
              <a:rPr lang="en-US"/>
              <a:t>	break;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/>
              <a:t>case d: </a:t>
            </a: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rPr lang="en-US" err="1"/>
              <a:t>element.textContent</a:t>
            </a:r>
            <a:r>
              <a:rPr lang="en-US"/>
              <a:t> = 'Right’; </a:t>
            </a:r>
            <a:endParaRPr lang="en-US"/>
          </a:p>
          <a:p>
            <a:pPr marL="0" indent="0">
              <a:buNone/>
            </a:pPr>
            <a:r>
              <a:rPr lang="en-US"/>
              <a:t>	break; </a:t>
            </a:r>
            <a:endParaRPr lang="en-US"/>
          </a:p>
          <a:p>
            <a:pPr marL="0" indent="0">
              <a:buNone/>
            </a:pPr>
            <a:r>
              <a:rPr lang="en-US"/>
              <a:t>case w: </a:t>
            </a: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rPr lang="en-US" err="1"/>
              <a:t>element.textContent</a:t>
            </a:r>
            <a:r>
              <a:rPr lang="en-US"/>
              <a:t> = 'Up’; </a:t>
            </a:r>
            <a:endParaRPr lang="en-US"/>
          </a:p>
          <a:p>
            <a:pPr marL="0" indent="0">
              <a:buNone/>
            </a:pPr>
            <a:r>
              <a:rPr lang="en-US"/>
              <a:t>break;</a:t>
            </a:r>
            <a:endParaRPr lang="en-US"/>
          </a:p>
          <a:p>
            <a:pPr marL="0" indent="0">
              <a:buNone/>
            </a:pPr>
            <a:r>
              <a:rPr lang="en-US"/>
              <a:t> }</a:t>
            </a:r>
            <a:endParaRPr lang="en-US"/>
          </a:p>
          <a:p>
            <a:pPr marL="0" indent="0">
              <a:buNone/>
            </a:pPr>
            <a:r>
              <a:rPr lang="en-US"/>
              <a:t> });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5425"/>
            <a:ext cx="10515600" cy="1325563"/>
          </a:xfrm>
        </p:spPr>
        <p:txBody>
          <a:bodyPr/>
          <a:lstStyle/>
          <a:p>
            <a:r>
              <a:rPr lang="en-US">
                <a:cs typeface="Calibri Light" panose="020F0302020204030204"/>
              </a:rPr>
              <a:t>QUESTIONS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9326</Words>
  <Application>WPS Presentation</Application>
  <PresentationFormat>Widescreen</PresentationFormat>
  <Paragraphs>400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50" baseType="lpstr">
      <vt:lpstr>Arial</vt:lpstr>
      <vt:lpstr>SimSun</vt:lpstr>
      <vt:lpstr>Wingdings</vt:lpstr>
      <vt:lpstr>BlinkMacSystemFont</vt:lpstr>
      <vt:lpstr>Segoe Print</vt:lpstr>
      <vt:lpstr>Consolas</vt:lpstr>
      <vt:lpstr>Consolas</vt:lpstr>
      <vt:lpstr>Calibri Light</vt:lpstr>
      <vt:lpstr>Microsoft YaHei</vt:lpstr>
      <vt:lpstr>Arial Unicode MS</vt:lpstr>
      <vt:lpstr>Calibri</vt:lpstr>
      <vt:lpstr>Epilogue</vt:lpstr>
      <vt:lpstr>Inter</vt:lpstr>
      <vt:lpstr>Calibri</vt:lpstr>
      <vt:lpstr>Calibri Light</vt:lpstr>
      <vt:lpstr>Office Theme</vt:lpstr>
      <vt:lpstr>DOM AND EVENT LISTENERS</vt:lpstr>
      <vt:lpstr>DOM (Document Object Model) </vt:lpstr>
      <vt:lpstr>An example of the DOM </vt:lpstr>
      <vt:lpstr>DOM TREE STRUCTURE</vt:lpstr>
      <vt:lpstr>CONTINUED…</vt:lpstr>
      <vt:lpstr>SOME FEATURES OF DOM</vt:lpstr>
      <vt:lpstr>OTHER NODE TYPES</vt:lpstr>
      <vt:lpstr>DOM tree </vt:lpstr>
      <vt:lpstr>CONTINUED…</vt:lpstr>
      <vt:lpstr>TREE STRUCTURE OF DOM (NO SPACES)</vt:lpstr>
      <vt:lpstr>VIEWING THE DOM</vt:lpstr>
      <vt:lpstr>How To Access Elements in the DOM </vt:lpstr>
      <vt:lpstr>Interaction with console </vt:lpstr>
      <vt:lpstr>Accessing Elements by ID </vt:lpstr>
      <vt:lpstr>Accessing Elements by Class </vt:lpstr>
      <vt:lpstr>Accessing Elements by Tag </vt:lpstr>
      <vt:lpstr>Query Selectors </vt:lpstr>
      <vt:lpstr>document.querySelectorAll();</vt:lpstr>
      <vt:lpstr>Modifying the DOM with Events </vt:lpstr>
      <vt:lpstr>EXAMPLES OF EVENTS</vt:lpstr>
      <vt:lpstr>CONTINUED…</vt:lpstr>
      <vt:lpstr>EXAMPLE OF MOUSE EVENT </vt:lpstr>
      <vt:lpstr>Form Events </vt:lpstr>
      <vt:lpstr>CONTINUED…</vt:lpstr>
      <vt:lpstr>EXAMPLE OF FORM EVENT</vt:lpstr>
      <vt:lpstr>EXAMPLE 2 ON FOCUS</vt:lpstr>
      <vt:lpstr>Keyboard Events </vt:lpstr>
      <vt:lpstr>DIFFERENCE BETWEEN THE EVENTS</vt:lpstr>
      <vt:lpstr>PROPERTIES FOR ACCESSING INDIVIDUAL KEYS</vt:lpstr>
      <vt:lpstr>CONTINUED…</vt:lpstr>
      <vt:lpstr>EXAMPLE OF KEY EVENTS</vt:lpstr>
      <vt:lpstr>ADD A JS FILE REFERENCING TO THE SELECTOR</vt:lpstr>
      <vt:lpstr>CONTINUED</vt:lpstr>
      <vt:lpstr>QUESTIONS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 AND EVENT LISTENERS</dc:title>
  <dc:creator>Daniel Kitheka Kakinyi</dc:creator>
  <cp:lastModifiedBy>JONATHAN MWANDI</cp:lastModifiedBy>
  <cp:revision>44</cp:revision>
  <dcterms:created xsi:type="dcterms:W3CDTF">2022-07-12T16:19:00Z</dcterms:created>
  <dcterms:modified xsi:type="dcterms:W3CDTF">2026-02-17T21:12:11Z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BF45AB7D4D66483BADF5AA8D64D30DB0_12</vt:lpwstr>
  </property>
  <property fmtid="{D5CDD505-2E9C-101B-9397-08002B2CF9AE}" pid="3" name="KSOProductBuildVer">
    <vt:lpwstr>1033-12.2.0.23196</vt:lpwstr>
  </property>
</Properties>
</file>